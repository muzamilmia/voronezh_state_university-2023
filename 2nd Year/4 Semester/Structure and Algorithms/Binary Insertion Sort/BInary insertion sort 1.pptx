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89" r:id="rId2"/>
    <p:sldId id="257" r:id="rId3"/>
    <p:sldId id="262" r:id="rId4"/>
    <p:sldId id="263" r:id="rId5"/>
    <p:sldId id="264" r:id="rId6"/>
    <p:sldId id="265" r:id="rId7"/>
    <p:sldId id="266" r:id="rId8"/>
    <p:sldId id="287" r:id="rId9"/>
    <p:sldId id="260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291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697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8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42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7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38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67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24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90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60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3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7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EECA4-9334-4954-ADC0-A612F8CC8981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436BF-E7AF-4F2F-93B2-E74F64846C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67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en/sortin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06580" y="2034854"/>
            <a:ext cx="10557166" cy="19552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en-US" sz="4800" b="1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Binary Insertion Sort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11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43" y="366315"/>
            <a:ext cx="10834255" cy="880595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Что </a:t>
            </a:r>
            <a:r>
              <a:rPr lang="ru-RU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такое </a:t>
            </a:r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сортировка</a:t>
            </a:r>
            <a:r>
              <a:rPr lang="en-US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вставкой</a:t>
            </a:r>
            <a:r>
              <a:rPr lang="ru-RU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655" y="1390166"/>
            <a:ext cx="11554691" cy="51907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простом алгоритме сортировки вставкой мы поддерживаем отсортированный и несортированный подмассив заданного массива. В каждой итерации выбирается одно значение из несортированной части и вставляется в его правильную позицию в отсортированной части. Чтобы добиться этого, для каждого элемента мы перебираем отсортированную часть массива, чтобы найти позицию для вставки элемента</a:t>
            </a:r>
            <a:r>
              <a:rPr lang="ru-RU" sz="28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ru-RU" sz="2800" dirty="0" smtClean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</a:t>
            </a:r>
            <a:r>
              <a:rPr lang="ru-RU" sz="28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ля </a:t>
            </a:r>
            <a:r>
              <a:rPr lang="ru-RU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вставки одного элемента требуется</a:t>
            </a:r>
            <a:r>
              <a:rPr lang="en-US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r>
              <a:rPr lang="en-US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ru-RU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O(N) сравнений </a:t>
            </a:r>
            <a:endParaRPr lang="en-US" sz="2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ru-RU" sz="28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O(N) перестановок</a:t>
            </a:r>
          </a:p>
          <a:p>
            <a:pPr algn="just">
              <a:lnSpc>
                <a:spcPct val="100000"/>
              </a:lnSpc>
            </a:pPr>
            <a:endParaRPr lang="ru-RU" sz="28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9200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11" name="Rectangle 10"/>
          <p:cNvSpPr/>
          <p:nvPr/>
        </p:nvSpPr>
        <p:spPr>
          <a:xfrm>
            <a:off x="2798618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2</a:t>
            </a:r>
            <a:endParaRPr lang="ru-RU" sz="8000" dirty="0"/>
          </a:p>
        </p:txBody>
      </p:sp>
      <p:sp>
        <p:nvSpPr>
          <p:cNvPr id="12" name="Rectangle 11"/>
          <p:cNvSpPr/>
          <p:nvPr/>
        </p:nvSpPr>
        <p:spPr>
          <a:xfrm>
            <a:off x="4378036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13" name="Rectangle 12"/>
          <p:cNvSpPr/>
          <p:nvPr/>
        </p:nvSpPr>
        <p:spPr>
          <a:xfrm>
            <a:off x="5957454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14" name="Rectangle 13"/>
          <p:cNvSpPr/>
          <p:nvPr/>
        </p:nvSpPr>
        <p:spPr>
          <a:xfrm>
            <a:off x="7536872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15" name="Rectangle 14"/>
          <p:cNvSpPr/>
          <p:nvPr/>
        </p:nvSpPr>
        <p:spPr>
          <a:xfrm>
            <a:off x="9116290" y="328352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16" name="Rectangle 15"/>
          <p:cNvSpPr/>
          <p:nvPr/>
        </p:nvSpPr>
        <p:spPr>
          <a:xfrm>
            <a:off x="318653" y="1332454"/>
            <a:ext cx="115269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 осуществляется только в отсортированном списке.</a:t>
            </a:r>
          </a:p>
        </p:txBody>
      </p:sp>
    </p:spTree>
    <p:extLst>
      <p:ext uri="{BB962C8B-B14F-4D97-AF65-F5344CB8AC3E}">
        <p14:creationId xmlns:p14="http://schemas.microsoft.com/office/powerpoint/2010/main" val="236085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8653" y="2777835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11" name="Rectangle 10"/>
          <p:cNvSpPr/>
          <p:nvPr/>
        </p:nvSpPr>
        <p:spPr>
          <a:xfrm>
            <a:off x="1858239" y="2777835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2</a:t>
            </a:r>
            <a:endParaRPr lang="ru-RU" sz="8000" dirty="0"/>
          </a:p>
        </p:txBody>
      </p:sp>
      <p:sp>
        <p:nvSpPr>
          <p:cNvPr id="12" name="Rectangle 11"/>
          <p:cNvSpPr/>
          <p:nvPr/>
        </p:nvSpPr>
        <p:spPr>
          <a:xfrm>
            <a:off x="3397825" y="2777835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13" name="Rectangle 12"/>
          <p:cNvSpPr/>
          <p:nvPr/>
        </p:nvSpPr>
        <p:spPr>
          <a:xfrm>
            <a:off x="4937411" y="279861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14" name="Rectangle 13"/>
          <p:cNvSpPr/>
          <p:nvPr/>
        </p:nvSpPr>
        <p:spPr>
          <a:xfrm>
            <a:off x="6476997" y="279861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15" name="Rectangle 14"/>
          <p:cNvSpPr/>
          <p:nvPr/>
        </p:nvSpPr>
        <p:spPr>
          <a:xfrm>
            <a:off x="8002726" y="279861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16" name="Rectangle 15"/>
          <p:cNvSpPr/>
          <p:nvPr/>
        </p:nvSpPr>
        <p:spPr>
          <a:xfrm>
            <a:off x="318653" y="1332454"/>
            <a:ext cx="115269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Если мы хотим найти 5, то мы находим левый правый и средний элементы.</a:t>
            </a:r>
          </a:p>
        </p:txBody>
      </p:sp>
      <p:sp>
        <p:nvSpPr>
          <p:cNvPr id="4" name="Up Arrow 3"/>
          <p:cNvSpPr/>
          <p:nvPr/>
        </p:nvSpPr>
        <p:spPr>
          <a:xfrm>
            <a:off x="402646" y="4919381"/>
            <a:ext cx="1245178" cy="1648690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3" name="Up Arrow 22"/>
          <p:cNvSpPr/>
          <p:nvPr/>
        </p:nvSpPr>
        <p:spPr>
          <a:xfrm>
            <a:off x="9612448" y="4919381"/>
            <a:ext cx="1245178" cy="1648690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5105397" y="4919381"/>
            <a:ext cx="1245178" cy="1648690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  <a:r>
              <a:rPr lang="en-US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ru-RU" sz="1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528455" y="2798617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</p:spTree>
    <p:extLst>
      <p:ext uri="{BB962C8B-B14F-4D97-AF65-F5344CB8AC3E}">
        <p14:creationId xmlns:p14="http://schemas.microsoft.com/office/powerpoint/2010/main" val="18646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617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11" name="Rectangle 10"/>
          <p:cNvSpPr/>
          <p:nvPr/>
        </p:nvSpPr>
        <p:spPr>
          <a:xfrm>
            <a:off x="2052203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2</a:t>
            </a:r>
            <a:endParaRPr lang="ru-RU" sz="8000" dirty="0"/>
          </a:p>
        </p:txBody>
      </p:sp>
      <p:sp>
        <p:nvSpPr>
          <p:cNvPr id="12" name="Rectangle 11"/>
          <p:cNvSpPr/>
          <p:nvPr/>
        </p:nvSpPr>
        <p:spPr>
          <a:xfrm>
            <a:off x="3591789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13" name="Rectangle 12"/>
          <p:cNvSpPr/>
          <p:nvPr/>
        </p:nvSpPr>
        <p:spPr>
          <a:xfrm>
            <a:off x="5131375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14" name="Rectangle 13"/>
          <p:cNvSpPr/>
          <p:nvPr/>
        </p:nvSpPr>
        <p:spPr>
          <a:xfrm>
            <a:off x="6670961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15" name="Rectangle 14"/>
          <p:cNvSpPr/>
          <p:nvPr/>
        </p:nvSpPr>
        <p:spPr>
          <a:xfrm>
            <a:off x="8210547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4" name="Up Arrow 3"/>
          <p:cNvSpPr/>
          <p:nvPr/>
        </p:nvSpPr>
        <p:spPr>
          <a:xfrm>
            <a:off x="955962" y="3916687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50133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17" name="Up Arrow 16"/>
          <p:cNvSpPr/>
          <p:nvPr/>
        </p:nvSpPr>
        <p:spPr>
          <a:xfrm>
            <a:off x="5574720" y="3916686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8" name="Up Arrow 17"/>
          <p:cNvSpPr/>
          <p:nvPr/>
        </p:nvSpPr>
        <p:spPr>
          <a:xfrm>
            <a:off x="10193478" y="3916685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8" y="5627316"/>
            <a:ext cx="84657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исключаем всю правую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сторону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4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617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11" name="Rectangle 10"/>
          <p:cNvSpPr/>
          <p:nvPr/>
        </p:nvSpPr>
        <p:spPr>
          <a:xfrm>
            <a:off x="2052203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2</a:t>
            </a:r>
            <a:endParaRPr lang="ru-RU" sz="8000" dirty="0"/>
          </a:p>
        </p:txBody>
      </p:sp>
      <p:sp>
        <p:nvSpPr>
          <p:cNvPr id="12" name="Rectangle 11"/>
          <p:cNvSpPr/>
          <p:nvPr/>
        </p:nvSpPr>
        <p:spPr>
          <a:xfrm>
            <a:off x="3591789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13" name="Rectangle 12"/>
          <p:cNvSpPr/>
          <p:nvPr/>
        </p:nvSpPr>
        <p:spPr>
          <a:xfrm>
            <a:off x="5131375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14" name="Rectangle 13"/>
          <p:cNvSpPr/>
          <p:nvPr/>
        </p:nvSpPr>
        <p:spPr>
          <a:xfrm>
            <a:off x="6670961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15" name="Rectangle 14"/>
          <p:cNvSpPr/>
          <p:nvPr/>
        </p:nvSpPr>
        <p:spPr>
          <a:xfrm>
            <a:off x="8210547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4" name="Up Arrow 3"/>
          <p:cNvSpPr/>
          <p:nvPr/>
        </p:nvSpPr>
        <p:spPr>
          <a:xfrm>
            <a:off x="7114306" y="3947998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50133" y="1904999"/>
            <a:ext cx="1413164" cy="17733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17" name="Up Arrow 16"/>
          <p:cNvSpPr/>
          <p:nvPr/>
        </p:nvSpPr>
        <p:spPr>
          <a:xfrm>
            <a:off x="8653892" y="3948230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8" name="Up Arrow 17"/>
          <p:cNvSpPr/>
          <p:nvPr/>
        </p:nvSpPr>
        <p:spPr>
          <a:xfrm>
            <a:off x="10193478" y="3948231"/>
            <a:ext cx="526474" cy="918549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8" y="5627316"/>
            <a:ext cx="84657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исключаем всю правую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сторону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498764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2038350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577936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124448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05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617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11" name="Rectangle 10"/>
          <p:cNvSpPr/>
          <p:nvPr/>
        </p:nvSpPr>
        <p:spPr>
          <a:xfrm>
            <a:off x="2052203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2</a:t>
            </a:r>
            <a:endParaRPr lang="ru-RU" sz="8000" dirty="0"/>
          </a:p>
        </p:txBody>
      </p:sp>
      <p:sp>
        <p:nvSpPr>
          <p:cNvPr id="12" name="Rectangle 11"/>
          <p:cNvSpPr/>
          <p:nvPr/>
        </p:nvSpPr>
        <p:spPr>
          <a:xfrm>
            <a:off x="3591789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13" name="Rectangle 12"/>
          <p:cNvSpPr/>
          <p:nvPr/>
        </p:nvSpPr>
        <p:spPr>
          <a:xfrm>
            <a:off x="5131375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14" name="Rectangle 13"/>
          <p:cNvSpPr/>
          <p:nvPr/>
        </p:nvSpPr>
        <p:spPr>
          <a:xfrm>
            <a:off x="6670961" y="1904999"/>
            <a:ext cx="1413164" cy="17733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15" name="Rectangle 14"/>
          <p:cNvSpPr/>
          <p:nvPr/>
        </p:nvSpPr>
        <p:spPr>
          <a:xfrm>
            <a:off x="8210547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4" name="Up Arrow 3"/>
          <p:cNvSpPr/>
          <p:nvPr/>
        </p:nvSpPr>
        <p:spPr>
          <a:xfrm>
            <a:off x="6851069" y="3869224"/>
            <a:ext cx="270167" cy="650993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50133" y="1904999"/>
            <a:ext cx="1413164" cy="17733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18" name="Up Arrow 17"/>
          <p:cNvSpPr/>
          <p:nvPr/>
        </p:nvSpPr>
        <p:spPr>
          <a:xfrm>
            <a:off x="7611338" y="3869224"/>
            <a:ext cx="353293" cy="608040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8" y="5627316"/>
            <a:ext cx="4918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исключаем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6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 7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ru-RU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498764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2038350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577936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5124448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Up Arrow 22"/>
          <p:cNvSpPr/>
          <p:nvPr/>
        </p:nvSpPr>
        <p:spPr>
          <a:xfrm>
            <a:off x="7140282" y="3799466"/>
            <a:ext cx="452010" cy="720751"/>
          </a:xfrm>
          <a:prstGeom prst="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8203621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750133" y="1904999"/>
            <a:ext cx="1427017" cy="17733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96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3" y="1833706"/>
            <a:ext cx="11298382" cy="2641312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br>
              <a:rPr lang="en-US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28598" y="261473"/>
            <a:ext cx="11707093" cy="9144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2562" y="1833706"/>
            <a:ext cx="109520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Объединяя эти две идеи, мы выполняем нашу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бинарную </a:t>
            </a:r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сортировку вставкой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sz="3600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en-US" sz="3600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</a:t>
            </a:r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Сортировка 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Вставкой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ru-RU" sz="36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</a:t>
            </a:r>
            <a:r>
              <a:rPr lang="ru-RU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Сортировка Вставкой</a:t>
            </a:r>
          </a:p>
          <a:p>
            <a:pPr algn="just"/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02437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6" y="166255"/>
            <a:ext cx="11707093" cy="1454728"/>
          </a:xfrm>
        </p:spPr>
        <p:txBody>
          <a:bodyPr>
            <a:noAutofit/>
          </a:bodyPr>
          <a:lstStyle/>
          <a:p>
            <a:r>
              <a:rPr lang="ru-RU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Что такое бинарная сортировка </a:t>
            </a:r>
            <a:r>
              <a:rPr lang="en-US" sz="44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										</a:t>
            </a:r>
            <a:r>
              <a:rPr lang="ru-RU" sz="44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вставкой</a:t>
            </a:r>
            <a:r>
              <a:rPr lang="ru-RU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943" y="1902783"/>
            <a:ext cx="11540837" cy="4110089"/>
          </a:xfrm>
        </p:spPr>
        <p:txBody>
          <a:bodyPr>
            <a:noAutofit/>
          </a:bodyPr>
          <a:lstStyle/>
          <a:p>
            <a:pPr algn="just"/>
            <a:r>
              <a:rPr lang="ru-RU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 алгоритм </a:t>
            </a:r>
            <a:r>
              <a:rPr lang="ru-RU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сортировки, похожий на сортировку вставкой, но вместо использования линейного поиска для нахождения позиции, куда следует вставить элемент, мы используем бинарный </a:t>
            </a:r>
            <a:r>
              <a:rPr lang="ru-RU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r>
              <a:rPr lang="en-US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algn="just"/>
            <a:r>
              <a:rPr lang="ru-RU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Таким образом, мы сокращаем количество сравнений для вставки одного элемента </a:t>
            </a:r>
            <a:r>
              <a:rPr lang="ru-RU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</a:t>
            </a:r>
            <a:r>
              <a:rPr lang="en-US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	</a:t>
            </a:r>
            <a:r>
              <a:rPr lang="ru-RU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O(N)</a:t>
            </a:r>
            <a:r>
              <a:rPr lang="en-US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 </a:t>
            </a:r>
            <a:r>
              <a:rPr lang="ru-RU" sz="3200" dirty="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O(log N).</a:t>
            </a:r>
          </a:p>
        </p:txBody>
      </p:sp>
    </p:spTree>
    <p:extLst>
      <p:ext uri="{BB962C8B-B14F-4D97-AF65-F5344CB8AC3E}">
        <p14:creationId xmlns:p14="http://schemas.microsoft.com/office/powerpoint/2010/main" val="22156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61" y="221667"/>
            <a:ext cx="11707093" cy="1454728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Как работает бинарная сортировка </a:t>
            </a:r>
            <a:r>
              <a:rPr lang="ru-RU" sz="40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вставкой</a:t>
            </a:r>
            <a:r>
              <a:rPr lang="ru-RU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07816" y="1847358"/>
                <a:ext cx="11831784" cy="4484162"/>
              </a:xfrm>
            </p:spPr>
            <p:txBody>
              <a:bodyPr>
                <a:no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В бинарной сортировке вставками мы делим массив на два подмассива — отсортированный и</a:t>
                </a:r>
                <a:r>
                  <a:rPr lang="en-US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несортированный</a:t>
                </a:r>
                <a:r>
                  <a:rPr lang="ru-RU" sz="32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. Первый элемент массива находится в отсортированном подмассиве, а остальные элементы — в несортированном</a:t>
                </a: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.</a:t>
                </a:r>
                <a:endParaRPr lang="en-US" sz="3200" dirty="0" smtClean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sz="32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Анализ временных </a:t>
                </a: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комплекситов</a:t>
                </a:r>
                <a:r>
                  <a:rPr lang="en-US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:</a:t>
                </a:r>
              </a:p>
              <a:p>
                <a:pPr algn="just">
                  <a:spcAft>
                    <a:spcPts val="600"/>
                  </a:spcAft>
                </a:pPr>
                <a:r>
                  <a:rPr lang="ru-RU" sz="32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Худший </a:t>
                </a: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случай</a:t>
                </a:r>
                <a:r>
                  <a:rPr lang="en-US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O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Open Sans" panose="020B0606030504020204" pitchFamily="34" charset="0"/>
                                <a:cs typeface="Open Sans" panose="020B0606030504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3200" b="0" dirty="0" smtClean="0">
                  <a:solidFill>
                    <a:schemeClr val="tx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:r>
                  <a:rPr lang="ru-RU" sz="3200" dirty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Лучший </a:t>
                </a:r>
                <a:r>
                  <a:rPr lang="ru-RU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случай</a:t>
                </a:r>
                <a:r>
                  <a:rPr lang="en-US" sz="3200" dirty="0" smtClean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: </a:t>
                </a:r>
                <a:r>
                  <a:rPr lang="en-US" sz="32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Open Sans" panose="020B0606030504020204" pitchFamily="34" charset="0"/>
                  </a:rPr>
                  <a:t>O(n log n )</a:t>
                </a:r>
                <a:endParaRPr lang="ru-RU" sz="3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7816" y="1847358"/>
                <a:ext cx="11831784" cy="4484162"/>
              </a:xfrm>
              <a:blipFill>
                <a:blip r:embed="rId2"/>
                <a:stretch>
                  <a:fillRect l="-1288" t="-2853" r="-13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58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Up Arrow 22"/>
          <p:cNvSpPr/>
          <p:nvPr/>
        </p:nvSpPr>
        <p:spPr>
          <a:xfrm>
            <a:off x="678868" y="4099247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5358" y="2093768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4944" y="2093768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7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54530" y="2093768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1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2114550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114550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114550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114550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2" name="Up Arrow 31"/>
          <p:cNvSpPr/>
          <p:nvPr/>
        </p:nvSpPr>
        <p:spPr>
          <a:xfrm>
            <a:off x="110830" y="4099246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3" name="Up Arrow 32"/>
          <p:cNvSpPr/>
          <p:nvPr/>
        </p:nvSpPr>
        <p:spPr>
          <a:xfrm>
            <a:off x="1246906" y="4099248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830" y="5765862"/>
            <a:ext cx="98652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считаем, что первый элемент отсортирован</a:t>
            </a:r>
          </a:p>
        </p:txBody>
      </p:sp>
    </p:spTree>
    <p:extLst>
      <p:ext uri="{BB962C8B-B14F-4D97-AF65-F5344CB8AC3E}">
        <p14:creationId xmlns:p14="http://schemas.microsoft.com/office/powerpoint/2010/main" val="355666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598" y="2343149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8184" y="1691993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7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07770" y="2343149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1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47356" y="236393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386942" y="236393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2671" y="236393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38400" y="236393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598" y="4218525"/>
            <a:ext cx="1704114" cy="828249"/>
            <a:chOff x="110830" y="5553974"/>
            <a:chExt cx="1704114" cy="828249"/>
          </a:xfrm>
        </p:grpSpPr>
        <p:sp>
          <p:nvSpPr>
            <p:cNvPr id="23" name="Up Arrow 22"/>
            <p:cNvSpPr/>
            <p:nvPr/>
          </p:nvSpPr>
          <p:spPr>
            <a:xfrm>
              <a:off x="678868" y="5553975"/>
              <a:ext cx="568038" cy="828247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 </a:t>
              </a:r>
              <a:endParaRPr lang="ru-RU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32" name="Up Arrow 31"/>
            <p:cNvSpPr/>
            <p:nvPr/>
          </p:nvSpPr>
          <p:spPr>
            <a:xfrm>
              <a:off x="110830" y="5553974"/>
              <a:ext cx="568038" cy="828247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 </a:t>
              </a:r>
              <a:endParaRPr lang="ru-RU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33" name="Up Arrow 32"/>
            <p:cNvSpPr/>
            <p:nvPr/>
          </p:nvSpPr>
          <p:spPr>
            <a:xfrm>
              <a:off x="1246906" y="5553976"/>
              <a:ext cx="568038" cy="828247"/>
            </a:xfrm>
            <a:prstGeom prst="up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 </a:t>
              </a:r>
              <a:endParaRPr lang="ru-RU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228598" y="5283073"/>
            <a:ext cx="684354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поиск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</a:t>
            </a:r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сравниваем числа </a:t>
            </a:r>
            <a:r>
              <a:rPr lang="en-US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ru-RU" sz="36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 7</a:t>
            </a:r>
          </a:p>
        </p:txBody>
      </p:sp>
    </p:spTree>
    <p:extLst>
      <p:ext uri="{BB962C8B-B14F-4D97-AF65-F5344CB8AC3E}">
        <p14:creationId xmlns:p14="http://schemas.microsoft.com/office/powerpoint/2010/main" val="416434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8598" y="2343149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8184" y="2343149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7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07770" y="2343149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1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47356" y="2344036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386942" y="2343149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6528" y="2343149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66114" y="2343149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340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Up Arrow 22"/>
          <p:cNvSpPr/>
          <p:nvPr/>
        </p:nvSpPr>
        <p:spPr>
          <a:xfrm>
            <a:off x="1246906" y="4417902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5358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7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54530" y="1549978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1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2" name="Up Arrow 31"/>
          <p:cNvSpPr/>
          <p:nvPr/>
        </p:nvSpPr>
        <p:spPr>
          <a:xfrm>
            <a:off x="275358" y="4417901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3" name="Up Arrow 32"/>
          <p:cNvSpPr/>
          <p:nvPr/>
        </p:nvSpPr>
        <p:spPr>
          <a:xfrm>
            <a:off x="2660070" y="4417902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8" y="5613461"/>
            <a:ext cx="81307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выполняем бинарный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r>
              <a:rPr lang="en-US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 меньше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поэтому наш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правый указатель идет влево.</a:t>
            </a:r>
          </a:p>
        </p:txBody>
      </p:sp>
    </p:spTree>
    <p:extLst>
      <p:ext uri="{BB962C8B-B14F-4D97-AF65-F5344CB8AC3E}">
        <p14:creationId xmlns:p14="http://schemas.microsoft.com/office/powerpoint/2010/main" val="370505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5358" y="1996788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2" name="Up Arrow 31"/>
          <p:cNvSpPr/>
          <p:nvPr/>
        </p:nvSpPr>
        <p:spPr>
          <a:xfrm>
            <a:off x="413902" y="4417899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3" name="Up Arrow 32"/>
          <p:cNvSpPr/>
          <p:nvPr/>
        </p:nvSpPr>
        <p:spPr>
          <a:xfrm>
            <a:off x="0" y="4417900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8" y="5613461"/>
            <a:ext cx="81307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выполняем бинарный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r>
              <a:rPr lang="en-US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 меньше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поэтому наш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правый указатель идет влево.</a:t>
            </a:r>
          </a:p>
        </p:txBody>
      </p:sp>
    </p:spTree>
    <p:extLst>
      <p:ext uri="{BB962C8B-B14F-4D97-AF65-F5344CB8AC3E}">
        <p14:creationId xmlns:p14="http://schemas.microsoft.com/office/powerpoint/2010/main" val="225988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810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197601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2237507" y="4417898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711778" y="4417898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3763236" y="4417897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598" y="5613461"/>
            <a:ext cx="81307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выполняем бинарный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r>
              <a:rPr lang="en-US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больше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поэтому наш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правый указатель идет влево.</a:t>
            </a:r>
          </a:p>
        </p:txBody>
      </p:sp>
    </p:spTree>
    <p:extLst>
      <p:ext uri="{BB962C8B-B14F-4D97-AF65-F5344CB8AC3E}">
        <p14:creationId xmlns:p14="http://schemas.microsoft.com/office/powerpoint/2010/main" val="39115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94116" y="1976011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dirty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3844641" y="4320916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496544" y="4320916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4206584" y="4320915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598" y="5613461"/>
            <a:ext cx="61975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Мы делаем еще одно сравнение.</a:t>
            </a:r>
          </a:p>
        </p:txBody>
      </p:sp>
    </p:spTree>
    <p:extLst>
      <p:ext uri="{BB962C8B-B14F-4D97-AF65-F5344CB8AC3E}">
        <p14:creationId xmlns:p14="http://schemas.microsoft.com/office/powerpoint/2010/main" val="162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14944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66402" y="2384713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33702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78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794159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5428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19847" y="190673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2237507" y="4417898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711778" y="4417898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5288965" y="4417897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163" y="5835134"/>
            <a:ext cx="52325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поиск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7922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794159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34067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485428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405992" y="190673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9431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4851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5339194" y="4320916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5006683" y="4320917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5663036" y="4320916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9215" y="5599606"/>
            <a:ext cx="526137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</a:t>
            </a:r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бинарный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endParaRPr lang="en-US" sz="2800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делаем еще одно сравнение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1013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725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1823596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3890356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711778" y="4320915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7068934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215" y="5765861"/>
            <a:ext cx="5261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поиск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13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1823596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995797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476247" y="4320915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2301067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215" y="5765861"/>
            <a:ext cx="5261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поиск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36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1823596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 smtClean="0"/>
              <a:t>2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10" name="Up Arrow 9"/>
          <p:cNvSpPr/>
          <p:nvPr/>
        </p:nvSpPr>
        <p:spPr>
          <a:xfrm>
            <a:off x="2301067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1878504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2723630" y="4320914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215" y="5765861"/>
            <a:ext cx="373692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итоге </a:t>
            </a:r>
            <a:r>
              <a:rPr lang="ru-RU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получается</a:t>
            </a:r>
            <a:r>
              <a:rPr lang="en-US" sz="28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</a:p>
          <a:p>
            <a:r>
              <a:rPr lang="ru-RU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 меньше 3 тогда</a:t>
            </a:r>
            <a:endParaRPr lang="en-US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2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906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2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1685062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89215" y="5516479"/>
            <a:ext cx="59891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поиск</a:t>
            </a:r>
            <a:endParaRPr lang="en-US"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890356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711778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Up Arrow 12"/>
          <p:cNvSpPr/>
          <p:nvPr/>
        </p:nvSpPr>
        <p:spPr>
          <a:xfrm>
            <a:off x="8942242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7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2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1685062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89215" y="5516479"/>
            <a:ext cx="59891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поиск</a:t>
            </a:r>
            <a:endParaRPr lang="en-US"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3890356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711778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Up Arrow 12"/>
          <p:cNvSpPr/>
          <p:nvPr/>
        </p:nvSpPr>
        <p:spPr>
          <a:xfrm>
            <a:off x="8942242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37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2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6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7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1685062"/>
            <a:ext cx="1413164" cy="17733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8000" dirty="0"/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289215" y="5516479"/>
            <a:ext cx="619753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Выполняем бинарный </a:t>
            </a:r>
            <a:r>
              <a:rPr lang="ru-RU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поиск</a:t>
            </a:r>
            <a:r>
              <a:rPr lang="en-US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</a:p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этот раз мы </a:t>
            </a:r>
            <a:r>
              <a:rPr lang="ru-RU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сходимся</a:t>
            </a:r>
            <a:r>
              <a:rPr lang="en-US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4</a:t>
            </a:r>
            <a:endParaRPr lang="en-US"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Up Arrow 10"/>
          <p:cNvSpPr/>
          <p:nvPr/>
        </p:nvSpPr>
        <p:spPr>
          <a:xfrm>
            <a:off x="5447646" y="4320911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5105567" y="4320912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sp>
        <p:nvSpPr>
          <p:cNvPr id="13" name="Up Arrow 12"/>
          <p:cNvSpPr/>
          <p:nvPr/>
        </p:nvSpPr>
        <p:spPr>
          <a:xfrm>
            <a:off x="5783407" y="4320913"/>
            <a:ext cx="568038" cy="828247"/>
          </a:xfrm>
          <a:prstGeom prst="up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 </a:t>
            </a:r>
            <a:endParaRPr lang="ru-RU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09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8" y="261473"/>
            <a:ext cx="11707093" cy="914401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Бинарная Сортировка Вставкой</a:t>
            </a:r>
            <a:endParaRPr lang="ru-RU" sz="4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9215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1</a:t>
            </a:r>
            <a:endParaRPr lang="ru-RU" sz="8000" dirty="0"/>
          </a:p>
        </p:txBody>
      </p:sp>
      <p:sp>
        <p:nvSpPr>
          <p:cNvPr id="22" name="Rectangle 21"/>
          <p:cNvSpPr/>
          <p:nvPr/>
        </p:nvSpPr>
        <p:spPr>
          <a:xfrm>
            <a:off x="1878504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2</a:t>
            </a:r>
            <a:endParaRPr lang="ru-RU" sz="8000" dirty="0"/>
          </a:p>
        </p:txBody>
      </p:sp>
      <p:sp>
        <p:nvSpPr>
          <p:cNvPr id="27" name="Rectangle 26"/>
          <p:cNvSpPr/>
          <p:nvPr/>
        </p:nvSpPr>
        <p:spPr>
          <a:xfrm>
            <a:off x="3467793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/>
              <a:t>3</a:t>
            </a:r>
            <a:endParaRPr lang="ru-RU" sz="8000" dirty="0"/>
          </a:p>
        </p:txBody>
      </p:sp>
      <p:sp>
        <p:nvSpPr>
          <p:cNvPr id="28" name="Rectangle 27"/>
          <p:cNvSpPr/>
          <p:nvPr/>
        </p:nvSpPr>
        <p:spPr>
          <a:xfrm>
            <a:off x="5057082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4</a:t>
            </a:r>
            <a:endParaRPr lang="ru-RU" sz="8000" dirty="0"/>
          </a:p>
        </p:txBody>
      </p:sp>
      <p:sp>
        <p:nvSpPr>
          <p:cNvPr id="29" name="Rectangle 28"/>
          <p:cNvSpPr/>
          <p:nvPr/>
        </p:nvSpPr>
        <p:spPr>
          <a:xfrm>
            <a:off x="6646371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5</a:t>
            </a:r>
            <a:endParaRPr lang="ru-RU" sz="8000" dirty="0"/>
          </a:p>
        </p:txBody>
      </p:sp>
      <p:sp>
        <p:nvSpPr>
          <p:cNvPr id="30" name="Rectangle 29"/>
          <p:cNvSpPr/>
          <p:nvPr/>
        </p:nvSpPr>
        <p:spPr>
          <a:xfrm>
            <a:off x="8235660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6</a:t>
            </a:r>
            <a:endParaRPr lang="ru-RU" sz="8000" dirty="0"/>
          </a:p>
        </p:txBody>
      </p:sp>
      <p:sp>
        <p:nvSpPr>
          <p:cNvPr id="31" name="Rectangle 30"/>
          <p:cNvSpPr/>
          <p:nvPr/>
        </p:nvSpPr>
        <p:spPr>
          <a:xfrm>
            <a:off x="9824949" y="2405495"/>
            <a:ext cx="1413164" cy="177338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smtClean="0"/>
              <a:t>7</a:t>
            </a:r>
            <a:endParaRPr lang="ru-RU" sz="8000" dirty="0"/>
          </a:p>
        </p:txBody>
      </p:sp>
      <p:sp>
        <p:nvSpPr>
          <p:cNvPr id="3" name="Rectangle 2"/>
          <p:cNvSpPr/>
          <p:nvPr/>
        </p:nvSpPr>
        <p:spPr>
          <a:xfrm>
            <a:off x="289215" y="5516479"/>
            <a:ext cx="615585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 больше 4, поэтому </a:t>
            </a:r>
            <a:r>
              <a:rPr lang="ru-RU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вставьте</a:t>
            </a:r>
            <a:endParaRPr lang="en-US" sz="3200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3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правую сторону.</a:t>
            </a:r>
            <a:endParaRPr lang="en-US"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5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343" y="138549"/>
            <a:ext cx="1134687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mid 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/ 2;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[mid])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mid + 1;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else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[mid])</a:t>
            </a:r>
          </a:p>
          <a:p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left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mid + 1;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else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right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mid - 1;</a:t>
            </a:r>
          </a:p>
          <a:p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insertionSort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j, k, selected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n-NO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for</a:t>
            </a:r>
            <a:r>
              <a:rPr lang="nn-NO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1; i &lt; </a:t>
            </a:r>
            <a:r>
              <a:rPr lang="nn-NO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++i) {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selected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//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find location where selected should be inserted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selected, 0, j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	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//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 all elements after location to create space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while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(j &gt;=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a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+ 1] 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[j];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j-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a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+ 1] = selected;</a:t>
            </a:r>
          </a:p>
          <a:p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0933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3343" y="138549"/>
            <a:ext cx="113468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1400" dirty="0"/>
          </a:p>
        </p:txBody>
      </p:sp>
      <p:sp>
        <p:nvSpPr>
          <p:cNvPr id="2" name="Rectangle 1"/>
          <p:cNvSpPr/>
          <p:nvPr/>
        </p:nvSpPr>
        <p:spPr>
          <a:xfrm>
            <a:off x="263233" y="138549"/>
            <a:ext cx="1170709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 ? 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+ 1) :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mid = 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/ 2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[mid])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mid + 1;</a:t>
            </a:r>
          </a:p>
          <a:p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[mid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])	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mid + 1,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return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mid - 1);</a:t>
            </a:r>
          </a:p>
          <a:p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insertionSort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[],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j, k, selected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n-NO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for</a:t>
            </a:r>
            <a:r>
              <a:rPr lang="nn-NO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1; i &lt; </a:t>
            </a:r>
            <a:r>
              <a:rPr lang="nn-NO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++i)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- 1;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selected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//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find location where selected should be inserted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</a:t>
            </a:r>
            <a:r>
              <a:rPr lang="en-US" sz="1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binarySearch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selected, 0, j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//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 all elements after location to create space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while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(j &gt;=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a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+ 1] = 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[j];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j-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-;</a:t>
            </a:r>
          </a:p>
          <a:p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a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[j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+ 1] = selected;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ru-RU" sz="1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826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6" y="332509"/>
            <a:ext cx="11707093" cy="1563802"/>
          </a:xfrm>
        </p:spPr>
        <p:txBody>
          <a:bodyPr>
            <a:noAutofit/>
          </a:bodyPr>
          <a:lstStyle/>
          <a:p>
            <a:r>
              <a:rPr lang="ru-RU" sz="44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Визуализация бинарной </a:t>
            </a:r>
            <a:r>
              <a:rPr lang="ru-RU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сортировки </a:t>
            </a:r>
            <a:r>
              <a:rPr lang="ru-RU" sz="44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вставкой</a:t>
            </a:r>
            <a:endParaRPr lang="ru-RU" sz="4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751" y="2897970"/>
            <a:ext cx="1006031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6000" dirty="0">
                <a:hlinkClick r:id="rId2"/>
              </a:rPr>
              <a:t>https://</a:t>
            </a:r>
            <a:r>
              <a:rPr lang="ru-RU" sz="6000" dirty="0" smtClean="0">
                <a:hlinkClick r:id="rId2"/>
              </a:rPr>
              <a:t>visualgo.net/en/sorting</a:t>
            </a:r>
            <a:r>
              <a:rPr lang="en-US" sz="6000" dirty="0" smtClean="0"/>
              <a:t> 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94115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043CF8-7B60-43A1-8727-EE2C32D7C51A}" vid="{3F441804-E5AA-49A7-9893-76D723F7D1C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214</TotalTime>
  <Words>1112</Words>
  <Application>Microsoft Office PowerPoint</Application>
  <PresentationFormat>Widescreen</PresentationFormat>
  <Paragraphs>364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Cascadia Mono</vt:lpstr>
      <vt:lpstr>Open Sans</vt:lpstr>
      <vt:lpstr>Wingdings</vt:lpstr>
      <vt:lpstr>Theme1</vt:lpstr>
      <vt:lpstr>PowerPoint Presentation</vt:lpstr>
      <vt:lpstr>Что такое сортировка вставкой?</vt:lpstr>
      <vt:lpstr>Бинарный Поиск</vt:lpstr>
      <vt:lpstr>Бинарный Поиск</vt:lpstr>
      <vt:lpstr>Бинарный Поиск</vt:lpstr>
      <vt:lpstr>Бинарный Поиск</vt:lpstr>
      <vt:lpstr>Бинарный Поиск</vt:lpstr>
      <vt:lpstr> </vt:lpstr>
      <vt:lpstr>Что такое бинарная сортировка            вставкой?</vt:lpstr>
      <vt:lpstr>Как работает бинарная сортировка вставкой?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Бинарная Сортировка Вставкой</vt:lpstr>
      <vt:lpstr>PowerPoint Presentation</vt:lpstr>
      <vt:lpstr>PowerPoint Presentation</vt:lpstr>
      <vt:lpstr>Визуализация бинарной сортировки вставкой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Muzamil Mia</dc:creator>
  <cp:lastModifiedBy>Muzamil Mia</cp:lastModifiedBy>
  <cp:revision>20</cp:revision>
  <dcterms:created xsi:type="dcterms:W3CDTF">2025-02-21T17:54:36Z</dcterms:created>
  <dcterms:modified xsi:type="dcterms:W3CDTF">2025-03-01T00:02:13Z</dcterms:modified>
</cp:coreProperties>
</file>