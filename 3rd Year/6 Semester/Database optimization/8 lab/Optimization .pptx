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8" r:id="rId3"/>
    <p:sldId id="258" r:id="rId4"/>
    <p:sldId id="279" r:id="rId5"/>
    <p:sldId id="280" r:id="rId6"/>
    <p:sldId id="281" r:id="rId7"/>
    <p:sldId id="282" r:id="rId8"/>
    <p:sldId id="284" r:id="rId9"/>
    <p:sldId id="283" r:id="rId10"/>
    <p:sldId id="285" r:id="rId11"/>
    <p:sldId id="286" r:id="rId12"/>
    <p:sldId id="287" r:id="rId13"/>
    <p:sldId id="288" r:id="rId14"/>
    <p:sldId id="289" r:id="rId15"/>
    <p:sldId id="29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F80CA-ED5C-408E-B78E-B0EF538522C7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B9A99-B50E-4206-8895-0B2C3662B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550FC-0FE2-487B-B572-816B95BEF30C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39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802-7D98-4D28-BB95-EA76C6663CC9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00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41D3-58EC-4FD8-889D-A8D858CD3956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037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E91E7-5B95-4F3E-BC4B-466EDBFBD114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87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B3A4-C1D0-489F-9CC1-70D23FE8EB86}" type="datetime1">
              <a:rPr lang="ru-RU" smtClean="0"/>
              <a:t>22.05.2026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16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9DE0-70E8-4D22-9F73-CD7EAA57EE14}" type="datetime1">
              <a:rPr lang="ru-RU" smtClean="0"/>
              <a:t>22.05.2026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34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D24-4CB7-4E16-A449-2250DA71F8C0}" type="datetime1">
              <a:rPr lang="ru-RU" smtClean="0"/>
              <a:t>22.05.2026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96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D542-AEB1-488B-9EC8-C167B4A54DB8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9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F07A4-FF14-4A30-AE45-2C17686E80E8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606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3469-DC3A-420D-9633-589DD53DF619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34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4CC60-ECCB-4CA6-A0D8-9A6E3D1D3688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620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7D1BB-373F-45DC-99D7-7D96A407F794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09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2015" y="214746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9545" y="1843560"/>
            <a:ext cx="11152909" cy="21236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400" b="1" dirty="0">
                <a:solidFill>
                  <a:srgbClr val="002060"/>
                </a:solidFill>
              </a:rPr>
              <a:t>Сравнение </a:t>
            </a:r>
            <a:r>
              <a:rPr lang="ru-RU" sz="4400" b="1" dirty="0" smtClean="0">
                <a:solidFill>
                  <a:srgbClr val="002060"/>
                </a:solidFill>
              </a:rPr>
              <a:t>Операторов </a:t>
            </a:r>
            <a:r>
              <a:rPr lang="en-US" sz="4400" b="1" dirty="0" smtClean="0">
                <a:solidFill>
                  <a:srgbClr val="002060"/>
                </a:solidFill>
              </a:rPr>
              <a:t>“</a:t>
            </a:r>
            <a:r>
              <a:rPr lang="ru-RU" sz="4400" b="1" dirty="0" smtClean="0">
                <a:solidFill>
                  <a:srgbClr val="002060"/>
                </a:solidFill>
              </a:rPr>
              <a:t>EXCEPT</a:t>
            </a:r>
            <a:r>
              <a:rPr lang="en-US" sz="4400" b="1" dirty="0" smtClean="0">
                <a:solidFill>
                  <a:srgbClr val="002060"/>
                </a:solidFill>
              </a:rPr>
              <a:t>”</a:t>
            </a:r>
            <a:r>
              <a:rPr lang="ru-RU" sz="4400" b="1" dirty="0" smtClean="0">
                <a:solidFill>
                  <a:srgbClr val="002060"/>
                </a:solidFill>
              </a:rPr>
              <a:t> </a:t>
            </a:r>
            <a:r>
              <a:rPr lang="ru-RU" sz="4400" b="1" dirty="0">
                <a:solidFill>
                  <a:srgbClr val="002060"/>
                </a:solidFill>
              </a:rPr>
              <a:t>и </a:t>
            </a:r>
            <a:r>
              <a:rPr lang="en-US" sz="4400" b="1" dirty="0" smtClean="0">
                <a:solidFill>
                  <a:srgbClr val="002060"/>
                </a:solidFill>
              </a:rPr>
              <a:t>           “</a:t>
            </a:r>
            <a:r>
              <a:rPr lang="ru-RU" sz="4400" b="1" dirty="0" smtClean="0">
                <a:solidFill>
                  <a:srgbClr val="002060"/>
                </a:solidFill>
              </a:rPr>
              <a:t>NOT EXISTS</a:t>
            </a:r>
            <a:r>
              <a:rPr lang="en-US" sz="4400" b="1" dirty="0" smtClean="0">
                <a:solidFill>
                  <a:srgbClr val="002060"/>
                </a:solidFill>
              </a:rPr>
              <a:t>”</a:t>
            </a:r>
            <a:endParaRPr lang="ru-RU" sz="4400" b="1" dirty="0">
              <a:solidFill>
                <a:srgbClr val="002060"/>
              </a:solidFill>
            </a:endParaRPr>
          </a:p>
          <a:p>
            <a:pPr algn="ctr"/>
            <a:r>
              <a:rPr lang="ru-RU" sz="4400" b="1" dirty="0">
                <a:solidFill>
                  <a:srgbClr val="002060"/>
                </a:solidFill>
              </a:rPr>
              <a:t>(с акцентом на проблему </a:t>
            </a:r>
            <a:r>
              <a:rPr lang="en-US" sz="4400" b="1" dirty="0" smtClean="0">
                <a:solidFill>
                  <a:srgbClr val="002060"/>
                </a:solidFill>
              </a:rPr>
              <a:t>“</a:t>
            </a:r>
            <a:r>
              <a:rPr lang="ru-RU" sz="4400" b="1" dirty="0" smtClean="0">
                <a:solidFill>
                  <a:srgbClr val="002060"/>
                </a:solidFill>
              </a:rPr>
              <a:t>NOT IN</a:t>
            </a:r>
            <a:r>
              <a:rPr lang="en-US" sz="4400" b="1" dirty="0" smtClean="0">
                <a:solidFill>
                  <a:srgbClr val="002060"/>
                </a:solidFill>
              </a:rPr>
              <a:t>”</a:t>
            </a:r>
            <a:r>
              <a:rPr lang="ru-RU" sz="4400" b="1" dirty="0" smtClean="0">
                <a:solidFill>
                  <a:srgbClr val="002060"/>
                </a:solidFill>
              </a:rPr>
              <a:t> </a:t>
            </a:r>
            <a:r>
              <a:rPr lang="ru-RU" sz="4400" b="1" dirty="0">
                <a:solidFill>
                  <a:srgbClr val="002060"/>
                </a:solidFill>
              </a:rPr>
              <a:t>и </a:t>
            </a:r>
            <a:r>
              <a:rPr lang="en-US" sz="4400" b="1" dirty="0" smtClean="0">
                <a:solidFill>
                  <a:srgbClr val="002060"/>
                </a:solidFill>
              </a:rPr>
              <a:t>“</a:t>
            </a:r>
            <a:r>
              <a:rPr lang="ru-RU" sz="4400" b="1" dirty="0" smtClean="0">
                <a:solidFill>
                  <a:srgbClr val="002060"/>
                </a:solidFill>
              </a:rPr>
              <a:t>NULL</a:t>
            </a:r>
            <a:r>
              <a:rPr lang="en-US" sz="4400" b="1" dirty="0" smtClean="0">
                <a:solidFill>
                  <a:srgbClr val="002060"/>
                </a:solidFill>
              </a:rPr>
              <a:t>”</a:t>
            </a:r>
            <a:r>
              <a:rPr lang="ru-RU" sz="4400" b="1" dirty="0" smtClean="0">
                <a:solidFill>
                  <a:srgbClr val="002060"/>
                </a:solidFill>
              </a:rPr>
              <a:t>)</a:t>
            </a:r>
            <a:endParaRPr lang="ru-RU" sz="4400" b="1" dirty="0">
              <a:solidFill>
                <a:srgbClr val="00206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9670471" y="5527476"/>
            <a:ext cx="2001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002060"/>
                </a:solidFill>
              </a:rPr>
              <a:t>Миа Музамил А.</a:t>
            </a:r>
          </a:p>
          <a:p>
            <a:r>
              <a:rPr lang="ru-RU" sz="2000" dirty="0" smtClean="0">
                <a:solidFill>
                  <a:srgbClr val="002060"/>
                </a:solidFill>
              </a:rPr>
              <a:t>91 группа</a:t>
            </a:r>
          </a:p>
        </p:txBody>
      </p:sp>
    </p:spTree>
    <p:extLst>
      <p:ext uri="{BB962C8B-B14F-4D97-AF65-F5344CB8AC3E}">
        <p14:creationId xmlns:p14="http://schemas.microsoft.com/office/powerpoint/2010/main" val="246550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2015" y="765793"/>
            <a:ext cx="11430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en-US" altLang="ru-RU" sz="2800" dirty="0" smtClean="0"/>
              <a:t>	      </a:t>
            </a:r>
            <a:r>
              <a:rPr lang="ru-RU" altLang="ru-RU" sz="2800" dirty="0" smtClean="0"/>
              <a:t>При </a:t>
            </a:r>
            <a:r>
              <a:rPr lang="ru-RU" altLang="ru-RU" sz="2800" dirty="0"/>
              <a:t>разработке SQL-запросов очень часто возникает задача поиска строк, отсутствующих в другом наборе данных. Для решения подобных задач используются различные подходы</a:t>
            </a:r>
            <a:r>
              <a:rPr lang="ru-RU" altLang="ru-RU" sz="2800" dirty="0" smtClean="0"/>
              <a:t>:</a:t>
            </a:r>
            <a:endParaRPr lang="ru-RU" altLang="ru-RU" sz="2800" dirty="0"/>
          </a:p>
          <a:p>
            <a:pPr marL="2057400" lvl="3" indent="-685800" algn="just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ru-RU" altLang="ru-RU" sz="2800" b="1" dirty="0"/>
              <a:t>EXCEPT</a:t>
            </a:r>
            <a:r>
              <a:rPr lang="ru-RU" altLang="ru-RU" sz="2800" b="1" dirty="0" smtClean="0"/>
              <a:t>;</a:t>
            </a:r>
            <a:r>
              <a:rPr lang="en-US" altLang="ru-RU" sz="2800" b="1" dirty="0" smtClean="0"/>
              <a:t> </a:t>
            </a:r>
            <a:r>
              <a:rPr lang="ru-RU" altLang="ru-RU" sz="2800" dirty="0"/>
              <a:t>(или </a:t>
            </a:r>
            <a:r>
              <a:rPr lang="en-US" altLang="ru-RU" sz="2800" b="1" dirty="0"/>
              <a:t>MINUS</a:t>
            </a:r>
            <a:r>
              <a:rPr lang="en-US" altLang="ru-RU" sz="2800" dirty="0"/>
              <a:t> </a:t>
            </a:r>
            <a:r>
              <a:rPr lang="ru-RU" altLang="ru-RU" sz="2800" dirty="0"/>
              <a:t>в </a:t>
            </a:r>
            <a:r>
              <a:rPr lang="en-US" altLang="ru-RU" sz="2800" dirty="0"/>
              <a:t>Oracle)</a:t>
            </a:r>
            <a:endParaRPr lang="ru-RU" altLang="ru-RU" sz="2800" dirty="0"/>
          </a:p>
          <a:p>
            <a:pPr marL="2057400" lvl="3" indent="-685800" algn="just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ru-RU" altLang="ru-RU" sz="2800" b="1" dirty="0"/>
              <a:t>NOT EXISTS;</a:t>
            </a:r>
          </a:p>
          <a:p>
            <a:pPr marL="2057400" lvl="3" indent="-685800" algn="just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ru-RU" altLang="ru-RU" sz="2800" b="1" dirty="0"/>
              <a:t>NOT IN</a:t>
            </a:r>
            <a:r>
              <a:rPr lang="ru-RU" altLang="ru-RU" sz="2800" b="1" dirty="0" smtClean="0"/>
              <a:t>.</a:t>
            </a:r>
            <a:endParaRPr lang="en-US" altLang="ru-RU" sz="2800" b="1" dirty="0" smtClean="0"/>
          </a:p>
          <a:p>
            <a:pPr marL="2057400" lvl="3" indent="-685800" algn="just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ru-RU" sz="2800" b="1" dirty="0"/>
              <a:t>LEFT JOIN ... WHERE ... IS NULL</a:t>
            </a:r>
            <a:endParaRPr kumimoji="0" lang="ru-RU" altLang="ru-RU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422" y="4578482"/>
            <a:ext cx="112231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smtClean="0"/>
              <a:t>	</a:t>
            </a:r>
            <a:r>
              <a:rPr lang="en-US" sz="2800" dirty="0" smtClean="0">
                <a:solidFill>
                  <a:schemeClr val="accent2"/>
                </a:solidFill>
              </a:rPr>
              <a:t>&gt;</a:t>
            </a:r>
            <a:r>
              <a:rPr lang="en-US" sz="2800" dirty="0" smtClean="0"/>
              <a:t> </a:t>
            </a:r>
            <a:r>
              <a:rPr lang="ru-RU" sz="2800" dirty="0" smtClean="0"/>
              <a:t>Особенно </a:t>
            </a:r>
            <a:r>
              <a:rPr lang="ru-RU" sz="2800" dirty="0"/>
              <a:t>важной является проблема использования </a:t>
            </a:r>
            <a:r>
              <a:rPr lang="ru-RU" sz="2800" b="1" dirty="0"/>
              <a:t>NOT IN </a:t>
            </a:r>
            <a:r>
              <a:rPr lang="ru-RU" sz="2800" dirty="0"/>
              <a:t>при наличии значений </a:t>
            </a:r>
            <a:r>
              <a:rPr lang="ru-RU" sz="2800" b="1" dirty="0"/>
              <a:t>NULL</a:t>
            </a:r>
            <a:r>
              <a:rPr lang="ru-RU" sz="2800" dirty="0"/>
              <a:t>, поскольку это может привести к неожиданным результатам и логическим ошибкам.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167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3"/>
          <p:cNvPicPr/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8268" y="479105"/>
            <a:ext cx="4273732" cy="8966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8182" y="558806"/>
            <a:ext cx="4673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altLang="ru-RU" sz="3600" b="1" dirty="0"/>
              <a:t>Оператор EXCEPT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15" y="1306144"/>
            <a:ext cx="11430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en-US" altLang="ru-RU" sz="2800" dirty="0" smtClean="0"/>
              <a:t>	</a:t>
            </a:r>
            <a:r>
              <a:rPr lang="ru-RU" altLang="ru-RU" sz="2800" dirty="0" smtClean="0"/>
              <a:t>Оператор </a:t>
            </a:r>
            <a:r>
              <a:rPr lang="ru-RU" altLang="ru-RU" sz="2800" dirty="0"/>
              <a:t>EXCEPT предназначен для получения строк, присутствующих в первом запросе и отсутствующих во втором.</a:t>
            </a:r>
            <a:endParaRPr kumimoji="0" lang="ru-RU" altLang="ru-RU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694" y="2404799"/>
            <a:ext cx="5190963" cy="26776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ru-RU" sz="2800" b="1" dirty="0"/>
              <a:t>Принцип работы</a:t>
            </a:r>
            <a:r>
              <a:rPr lang="ru-RU" sz="2800" b="1" dirty="0" smtClean="0"/>
              <a:t>:</a:t>
            </a:r>
            <a:endParaRPr lang="ru-RU" sz="2800" dirty="0"/>
          </a:p>
          <a:p>
            <a:pPr marL="514350" indent="-51435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Выполняется первый </a:t>
            </a:r>
            <a:r>
              <a:rPr lang="ru-RU" sz="2800" dirty="0" smtClean="0"/>
              <a:t>запрос.</a:t>
            </a:r>
            <a:endParaRPr lang="en-US" sz="2800" dirty="0" smtClean="0"/>
          </a:p>
          <a:p>
            <a:pPr marL="514350" indent="-51435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 smtClean="0"/>
              <a:t>Выполняется </a:t>
            </a:r>
            <a:r>
              <a:rPr lang="ru-RU" sz="2800" dirty="0"/>
              <a:t>второй </a:t>
            </a:r>
            <a:r>
              <a:rPr lang="ru-RU" sz="2800" dirty="0" smtClean="0"/>
              <a:t>запрос.</a:t>
            </a:r>
            <a:endParaRPr lang="en-US" sz="2800" dirty="0" smtClean="0"/>
          </a:p>
          <a:p>
            <a:pPr marL="514350" indent="-51435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 smtClean="0"/>
              <a:t>Из </a:t>
            </a:r>
            <a:r>
              <a:rPr lang="ru-RU" sz="2800" dirty="0"/>
              <a:t>результата первого запроса исключаются строки второго.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1235" y="2404799"/>
            <a:ext cx="6036348" cy="35394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ru-RU" sz="2800" b="1" dirty="0"/>
              <a:t>Особенности EXCEPT</a:t>
            </a:r>
            <a:r>
              <a:rPr lang="ru-RU" sz="2800" b="1" dirty="0" smtClean="0"/>
              <a:t>:</a:t>
            </a:r>
            <a:endParaRPr lang="ru-RU" sz="2800" dirty="0"/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автоматически удаляет </a:t>
            </a:r>
            <a:r>
              <a:rPr lang="ru-RU" sz="2800" dirty="0" smtClean="0"/>
              <a:t>дубликаты;</a:t>
            </a:r>
            <a:endParaRPr lang="en-US" sz="2800" dirty="0" smtClean="0"/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 smtClean="0"/>
              <a:t>корректно </a:t>
            </a:r>
            <a:r>
              <a:rPr lang="ru-RU" sz="2800" dirty="0"/>
              <a:t>работает с </a:t>
            </a:r>
            <a:r>
              <a:rPr lang="ru-RU" sz="2800" dirty="0" smtClean="0"/>
              <a:t>NULL;</a:t>
            </a:r>
            <a:endParaRPr lang="en-US" sz="2800" dirty="0" smtClean="0"/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 smtClean="0"/>
              <a:t>хорошо </a:t>
            </a:r>
            <a:r>
              <a:rPr lang="ru-RU" sz="2800" dirty="0"/>
              <a:t>подходит для сравнения наборов </a:t>
            </a:r>
            <a:r>
              <a:rPr lang="ru-RU" sz="2800" dirty="0" smtClean="0"/>
              <a:t>данных;</a:t>
            </a:r>
            <a:endParaRPr lang="en-US" sz="2800" dirty="0" smtClean="0"/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 smtClean="0"/>
              <a:t>поддерживается </a:t>
            </a:r>
            <a:r>
              <a:rPr lang="ru-RU" sz="2800" dirty="0"/>
              <a:t>PostgreSQL и SQL </a:t>
            </a:r>
            <a:r>
              <a:rPr lang="ru-RU" sz="2800" dirty="0" smtClean="0"/>
              <a:t>Server;</a:t>
            </a:r>
            <a:endParaRPr lang="en-US" sz="2800" dirty="0" smtClean="0"/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 smtClean="0"/>
              <a:t>отсутствует </a:t>
            </a:r>
            <a:r>
              <a:rPr lang="ru-RU" sz="2800" dirty="0"/>
              <a:t>в MySQL.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-180862" y="5361214"/>
            <a:ext cx="78285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endParaRPr lang="en-US" altLang="ru-RU" sz="2400" dirty="0" smtClean="0"/>
          </a:p>
          <a:p>
            <a:pPr marL="800100" lvl="1" indent="-3429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ru-RU" sz="2400" dirty="0" smtClean="0"/>
              <a:t>PostgreSQL </a:t>
            </a:r>
            <a:r>
              <a:rPr lang="ru-RU" altLang="ru-RU" sz="2400" dirty="0"/>
              <a:t>поддерживает </a:t>
            </a:r>
            <a:r>
              <a:rPr lang="en-US" altLang="ru-RU" sz="2400" dirty="0"/>
              <a:t>EXCEPT </a:t>
            </a:r>
            <a:r>
              <a:rPr lang="en-US" altLang="ru-RU" sz="2400" dirty="0" smtClean="0"/>
              <a:t>ALL;  </a:t>
            </a:r>
          </a:p>
          <a:p>
            <a:pPr marL="800100" lvl="1" indent="-3429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ru-RU" sz="2400" dirty="0" smtClean="0"/>
              <a:t>Microsoft </a:t>
            </a:r>
            <a:r>
              <a:rPr lang="en-US" altLang="ru-RU" sz="2400" dirty="0"/>
              <a:t>SQL </a:t>
            </a:r>
            <a:r>
              <a:rPr lang="en-US" altLang="ru-RU" sz="2400" dirty="0" smtClean="0"/>
              <a:t>Server EXCEPT </a:t>
            </a:r>
            <a:r>
              <a:rPr lang="en-US" altLang="ru-RU" sz="2400" dirty="0"/>
              <a:t>ALL </a:t>
            </a:r>
            <a:r>
              <a:rPr lang="ru-RU" altLang="ru-RU" sz="2400" dirty="0"/>
              <a:t>не поддерживается</a:t>
            </a:r>
            <a:r>
              <a:rPr lang="ru-RU" altLang="ru-RU" sz="2400" dirty="0" smtClean="0"/>
              <a:t>.</a:t>
            </a:r>
            <a:endParaRPr kumimoji="0" lang="ru-RU" altLang="ru-RU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3"/>
          <p:cNvPicPr/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8268" y="479105"/>
            <a:ext cx="5198838" cy="8966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8181" y="558806"/>
            <a:ext cx="5305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altLang="ru-RU" sz="3600" b="1" dirty="0"/>
              <a:t>Оператор </a:t>
            </a:r>
            <a:r>
              <a:rPr lang="en-US" altLang="ru-RU" sz="3600" b="1" dirty="0" smtClean="0"/>
              <a:t>NOT EXISTS</a:t>
            </a:r>
            <a:endParaRPr lang="ru-RU" altLang="ru-RU" sz="3600" b="1" dirty="0"/>
          </a:p>
        </p:txBody>
      </p:sp>
      <p:sp>
        <p:nvSpPr>
          <p:cNvPr id="7" name="Rectangle 6"/>
          <p:cNvSpPr/>
          <p:nvPr/>
        </p:nvSpPr>
        <p:spPr>
          <a:xfrm>
            <a:off x="-15345" y="1320119"/>
            <a:ext cx="1187483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ru-RU" sz="2800" dirty="0"/>
              <a:t>NOT EXISTS проверяет отсутствие строк во вложенном подзапросе</a:t>
            </a:r>
            <a:r>
              <a:rPr lang="ru-RU" altLang="ru-RU" sz="2800" dirty="0" smtClean="0"/>
              <a:t>.</a:t>
            </a:r>
            <a:endParaRPr lang="en-US" altLang="ru-RU" sz="2800" dirty="0" smtClean="0"/>
          </a:p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ru-RU" sz="2800" dirty="0" smtClean="0"/>
              <a:t>Используется в </a:t>
            </a:r>
            <a:r>
              <a:rPr lang="ru-RU" altLang="ru-RU" sz="2800" dirty="0"/>
              <a:t>коррелированных подзапросах</a:t>
            </a:r>
            <a:r>
              <a:rPr lang="ru-RU" altLang="ru-RU" sz="2800" dirty="0" smtClean="0"/>
              <a:t>.</a:t>
            </a:r>
            <a:endParaRPr lang="en-US" altLang="ru-RU" sz="2800" dirty="0" smtClean="0"/>
          </a:p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ru-RU" sz="2800" dirty="0" smtClean="0"/>
              <a:t>Очень мощный </a:t>
            </a:r>
            <a:r>
              <a:rPr lang="ru-RU" altLang="ru-RU" sz="2800" dirty="0"/>
              <a:t>потому что он работает как: </a:t>
            </a:r>
            <a:r>
              <a:rPr lang="ru-RU" altLang="ru-RU" sz="2800" b="1" dirty="0"/>
              <a:t>ANTI </a:t>
            </a:r>
            <a:r>
              <a:rPr lang="ru-RU" altLang="ru-RU" sz="2800" b="1" dirty="0" smtClean="0"/>
              <a:t>JOIN</a:t>
            </a:r>
            <a:endParaRPr lang="en-US" altLang="ru-RU" sz="2800" b="1" dirty="0" smtClean="0"/>
          </a:p>
          <a:p>
            <a:pPr marL="1371600" lvl="2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ru-RU" sz="2800" dirty="0"/>
              <a:t>операция, которая возвращает строки из левой таблицы, для которых нет совпадений в правой.</a:t>
            </a:r>
            <a:endParaRPr lang="en-US" altLang="ru-RU" sz="2800" dirty="0" smtClean="0"/>
          </a:p>
          <a:p>
            <a:pPr lvl="1" algn="just">
              <a:buClr>
                <a:schemeClr val="accent2"/>
              </a:buClr>
            </a:pPr>
            <a:endParaRPr lang="en-US" altLang="ru-RU" sz="2800" dirty="0" smtClean="0"/>
          </a:p>
          <a:p>
            <a:pPr lvl="1" algn="just">
              <a:buClr>
                <a:schemeClr val="accent2"/>
              </a:buClr>
            </a:pPr>
            <a:endParaRPr kumimoji="0" lang="ru-RU" altLang="ru-RU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09853" y="3491345"/>
            <a:ext cx="5861971" cy="31085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b="1" dirty="0"/>
              <a:t>Анализ </a:t>
            </a:r>
            <a:r>
              <a:rPr lang="ru-RU" sz="2800" b="1" dirty="0" smtClean="0"/>
              <a:t>плана</a:t>
            </a:r>
            <a:endParaRPr lang="ru-RU" sz="2800" b="1" dirty="0"/>
          </a:p>
          <a:p>
            <a:pPr marL="457200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PostgreSQL:</a:t>
            </a:r>
          </a:p>
          <a:p>
            <a:pPr marL="457200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 smtClean="0"/>
              <a:t>строит hash-таблицу;</a:t>
            </a:r>
            <a:endParaRPr lang="en-US" sz="2800" dirty="0" smtClean="0"/>
          </a:p>
          <a:p>
            <a:pPr marL="457200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 smtClean="0"/>
              <a:t>ищет совпадения;</a:t>
            </a:r>
            <a:endParaRPr lang="en-US" sz="2800" dirty="0" smtClean="0"/>
          </a:p>
          <a:p>
            <a:pPr marL="457200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 smtClean="0"/>
              <a:t>исключает </a:t>
            </a:r>
            <a:r>
              <a:rPr lang="ru-RU" sz="2800" dirty="0"/>
              <a:t>найденные строки</a:t>
            </a:r>
            <a:r>
              <a:rPr lang="ru-RU" sz="2800" dirty="0" smtClean="0"/>
              <a:t>.</a:t>
            </a:r>
            <a:endParaRPr lang="ru-RU" sz="2800" dirty="0"/>
          </a:p>
          <a:p>
            <a:pPr marL="457200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Данный алгоритм очень эффективен на больших таблицах.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784" y="3505200"/>
            <a:ext cx="5805503" cy="31085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ru-RU" sz="2800" b="1" dirty="0"/>
              <a:t>Особенности </a:t>
            </a:r>
            <a:r>
              <a:rPr lang="ru-RU" sz="2800" b="1" dirty="0" smtClean="0"/>
              <a:t>:</a:t>
            </a:r>
            <a:endParaRPr lang="ru-RU" sz="2800" dirty="0"/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реализует </a:t>
            </a:r>
            <a:r>
              <a:rPr lang="ru-RU" sz="2800" b="1" dirty="0"/>
              <a:t>anti join</a:t>
            </a:r>
            <a:r>
              <a:rPr lang="ru-RU" sz="2800" dirty="0"/>
              <a:t>;</a:t>
            </a:r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хорошо оптимизируется;</a:t>
            </a:r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корректно работает с NULL;</a:t>
            </a:r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эффективно использует индексы;</a:t>
            </a:r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поддерживается всеми современными СУБД.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69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3"/>
          <p:cNvPicPr/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2784" y="335997"/>
            <a:ext cx="5198838" cy="8966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440814"/>
            <a:ext cx="5305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altLang="ru-RU" sz="3600" dirty="0"/>
              <a:t>Недостатки NOT </a:t>
            </a:r>
            <a:r>
              <a:rPr lang="ru-RU" altLang="ru-RU" sz="3600" dirty="0" smtClean="0"/>
              <a:t>EXISTS</a:t>
            </a:r>
            <a:endParaRPr lang="ru-RU" altLang="ru-RU" sz="3600" dirty="0"/>
          </a:p>
        </p:txBody>
      </p:sp>
      <p:sp>
        <p:nvSpPr>
          <p:cNvPr id="7" name="Rectangle 6"/>
          <p:cNvSpPr/>
          <p:nvPr/>
        </p:nvSpPr>
        <p:spPr>
          <a:xfrm>
            <a:off x="262784" y="1087145"/>
            <a:ext cx="1161205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ru-RU" sz="2800" dirty="0" smtClean="0"/>
              <a:t>Более </a:t>
            </a:r>
            <a:r>
              <a:rPr lang="ru-RU" altLang="ru-RU" sz="2800" dirty="0"/>
              <a:t>сложный синтаксис по сравнению с NOT </a:t>
            </a:r>
            <a:r>
              <a:rPr lang="ru-RU" altLang="ru-RU" sz="2800" dirty="0" smtClean="0"/>
              <a:t>IN</a:t>
            </a:r>
            <a:endParaRPr lang="ru-RU" altLang="ru-RU" sz="2800" dirty="0"/>
          </a:p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ru-RU" sz="2800" dirty="0"/>
              <a:t>Коррелированные подзапросы труднее читать для </a:t>
            </a:r>
            <a:r>
              <a:rPr lang="ru-RU" altLang="ru-RU" sz="2800" dirty="0" smtClean="0"/>
              <a:t>новичков</a:t>
            </a:r>
            <a:endParaRPr lang="ru-RU" altLang="ru-RU" sz="2800" dirty="0"/>
          </a:p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ru-RU" sz="2800" dirty="0"/>
              <a:t>На старых версиях СУБД мог работать медленно (но современные оптимизаторы решают эту проблему)</a:t>
            </a:r>
            <a:endParaRPr kumimoji="0" lang="ru-RU" altLang="ru-RU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47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3"/>
          <p:cNvPicPr/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2784" y="423478"/>
            <a:ext cx="5198838" cy="8966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8181" y="558806"/>
            <a:ext cx="5305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altLang="ru-RU" sz="3600" b="1" dirty="0"/>
              <a:t>Оператор NOT </a:t>
            </a:r>
            <a:r>
              <a:rPr lang="ru-RU" altLang="ru-RU" sz="3600" b="1" dirty="0" smtClean="0"/>
              <a:t>IN</a:t>
            </a:r>
            <a:endParaRPr lang="ru-RU" altLang="ru-RU" sz="3600" b="1" dirty="0"/>
          </a:p>
        </p:txBody>
      </p:sp>
      <p:sp>
        <p:nvSpPr>
          <p:cNvPr id="7" name="Rectangle 6"/>
          <p:cNvSpPr/>
          <p:nvPr/>
        </p:nvSpPr>
        <p:spPr>
          <a:xfrm>
            <a:off x="-15345" y="1320119"/>
            <a:ext cx="1187483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ru-RU" sz="2800" b="1" dirty="0"/>
              <a:t>NOT IN </a:t>
            </a:r>
            <a:r>
              <a:rPr lang="ru-RU" altLang="ru-RU" sz="2800" dirty="0"/>
              <a:t>проверяет отсутствие значения в наборе</a:t>
            </a:r>
            <a:r>
              <a:rPr lang="ru-RU" altLang="ru-RU" sz="2800" dirty="0" smtClean="0"/>
              <a:t>.</a:t>
            </a:r>
            <a:endParaRPr lang="en-US" altLang="ru-RU" sz="2800" dirty="0" smtClean="0"/>
          </a:p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ru-RU" sz="2800" dirty="0"/>
              <a:t>Главная проблема NOT IN связана с </a:t>
            </a:r>
            <a:r>
              <a:rPr lang="ru-RU" altLang="ru-RU" sz="2800" b="1" dirty="0"/>
              <a:t>NULL</a:t>
            </a:r>
            <a:r>
              <a:rPr lang="ru-RU" altLang="ru-RU" sz="2800" dirty="0" smtClean="0"/>
              <a:t>.</a:t>
            </a:r>
            <a:endParaRPr lang="en-US" altLang="ru-RU" sz="2800" dirty="0" smtClean="0"/>
          </a:p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ru-RU" sz="2800" dirty="0"/>
              <a:t>Если во внутреннем запросе есть: NULL</a:t>
            </a:r>
          </a:p>
          <a:p>
            <a:pPr marL="1828800" lvl="3" indent="-457200" algn="just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ru-RU" altLang="ru-RU" sz="2800" dirty="0"/>
              <a:t>результат может стать пустым</a:t>
            </a:r>
            <a:r>
              <a:rPr lang="ru-RU" altLang="ru-RU" sz="2800" dirty="0" smtClean="0"/>
              <a:t>.</a:t>
            </a:r>
            <a:endParaRPr lang="en-US" altLang="ru-RU" sz="2800" dirty="0" smtClean="0"/>
          </a:p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ru-RU" sz="2800" b="1" dirty="0"/>
              <a:t>Производительность</a:t>
            </a:r>
            <a:r>
              <a:rPr lang="ru-RU" altLang="ru-RU" sz="2800" dirty="0"/>
              <a:t>: С подзапросами NOT IN заставляет PostgreSQL использовать неэффективные алгоритмы (например, последовательное сканирование). NOT EXISTS всегда генерирует более быстрый план выполнения.</a:t>
            </a:r>
            <a:endParaRPr lang="en-US" altLang="ru-RU" sz="28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726614" y="5232852"/>
            <a:ext cx="10738771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2800" b="1" dirty="0"/>
              <a:t>Лучшая </a:t>
            </a:r>
            <a:r>
              <a:rPr lang="ru-RU" sz="2800" b="1" dirty="0" smtClean="0"/>
              <a:t>альтернатива</a:t>
            </a:r>
            <a:endParaRPr lang="en-US" sz="2800" b="1" dirty="0" smtClean="0"/>
          </a:p>
          <a:p>
            <a:pPr marL="914400" lvl="1" indent="-457200" algn="just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ru-RU" sz="2800" b="1" dirty="0" smtClean="0"/>
              <a:t> </a:t>
            </a:r>
            <a:r>
              <a:rPr lang="ru-RU" sz="2800" dirty="0"/>
              <a:t>Использование </a:t>
            </a:r>
            <a:r>
              <a:rPr lang="en-US" sz="2800" dirty="0"/>
              <a:t>NOT EXISTS </a:t>
            </a:r>
            <a:r>
              <a:rPr lang="ru-RU" sz="2800" dirty="0"/>
              <a:t>или </a:t>
            </a:r>
            <a:r>
              <a:rPr lang="en-US" sz="2800" dirty="0"/>
              <a:t>LEFT JOIN ... WHERE ... IS NULL.</a:t>
            </a:r>
            <a:endParaRPr lang="ru-RU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47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3"/>
          <p:cNvPicPr/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181" y="441270"/>
            <a:ext cx="3214707" cy="8966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8181" y="558806"/>
            <a:ext cx="5305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altLang="ru-RU" sz="3600" b="1" dirty="0"/>
              <a:t>Сравнение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-15345" y="1320119"/>
            <a:ext cx="118748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ru-RU" sz="2800" dirty="0"/>
              <a:t>Table: </a:t>
            </a:r>
            <a:r>
              <a:rPr lang="en-US" altLang="ru-RU" sz="2800" b="1" dirty="0" err="1" smtClean="0"/>
              <a:t>Type_equipment</a:t>
            </a:r>
            <a:r>
              <a:rPr lang="en-US" altLang="ru-RU" sz="2800" dirty="0" smtClean="0"/>
              <a:t>;</a:t>
            </a:r>
          </a:p>
          <a:p>
            <a:pPr marL="914400" lvl="1" indent="-457200" algn="just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ru-RU" sz="2800" dirty="0" smtClean="0"/>
              <a:t>Table:  </a:t>
            </a:r>
            <a:r>
              <a:rPr lang="en-US" altLang="ru-RU" sz="2800" b="1" dirty="0" smtClean="0"/>
              <a:t>Equipment;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37"/>
          <a:stretch/>
        </p:blipFill>
        <p:spPr>
          <a:xfrm>
            <a:off x="7473782" y="1105277"/>
            <a:ext cx="3539840" cy="16904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0" r="4497"/>
          <a:stretch/>
        </p:blipFill>
        <p:spPr>
          <a:xfrm>
            <a:off x="7473782" y="3379337"/>
            <a:ext cx="3539840" cy="16320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617" y="2795740"/>
            <a:ext cx="6331529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SELECT DISTINCT </a:t>
            </a:r>
            <a:r>
              <a:rPr lang="en-US" sz="2400" dirty="0" err="1"/>
              <a:t>TE.Name</a:t>
            </a:r>
            <a:endParaRPr lang="en-US" sz="2400" dirty="0"/>
          </a:p>
          <a:p>
            <a:r>
              <a:rPr lang="en-US" sz="2400" dirty="0"/>
              <a:t>FROM </a:t>
            </a:r>
            <a:r>
              <a:rPr lang="en-US" sz="2400" dirty="0" err="1"/>
              <a:t>Type_equipment</a:t>
            </a:r>
            <a:r>
              <a:rPr lang="en-US" sz="2400" dirty="0"/>
              <a:t> TE</a:t>
            </a:r>
          </a:p>
          <a:p>
            <a:r>
              <a:rPr lang="en-US" sz="2400" dirty="0"/>
              <a:t>WHERE </a:t>
            </a:r>
            <a:r>
              <a:rPr lang="en-US" sz="2400" b="1" dirty="0"/>
              <a:t>NOT EXISTS </a:t>
            </a:r>
            <a:r>
              <a:rPr lang="en-US" sz="2400" dirty="0"/>
              <a:t>(</a:t>
            </a:r>
          </a:p>
          <a:p>
            <a:r>
              <a:rPr lang="en-US" sz="2400" dirty="0"/>
              <a:t>    SELECT 1 FROM Equipment E</a:t>
            </a:r>
          </a:p>
          <a:p>
            <a:r>
              <a:rPr lang="en-US" sz="2400" dirty="0"/>
              <a:t>    WHERE </a:t>
            </a:r>
            <a:r>
              <a:rPr lang="en-US" sz="2400" dirty="0" err="1"/>
              <a:t>E.typeID</a:t>
            </a:r>
            <a:r>
              <a:rPr lang="en-US" sz="2400" dirty="0"/>
              <a:t> = </a:t>
            </a:r>
            <a:r>
              <a:rPr lang="en-US" sz="2400" dirty="0" err="1"/>
              <a:t>TE.typeID</a:t>
            </a:r>
            <a:r>
              <a:rPr lang="en-US" sz="2400" dirty="0"/>
              <a:t> AND </a:t>
            </a:r>
            <a:r>
              <a:rPr lang="en-US" sz="2400" dirty="0" err="1"/>
              <a:t>E.InstallationDate</a:t>
            </a:r>
            <a:r>
              <a:rPr lang="en-US" sz="2400" dirty="0"/>
              <a:t> &gt;= CURRENT_DATE - INTERVAL '5 years')</a:t>
            </a:r>
          </a:p>
          <a:p>
            <a:r>
              <a:rPr lang="en-US" sz="2400" dirty="0"/>
              <a:t>ORDER BY </a:t>
            </a:r>
            <a:r>
              <a:rPr lang="en-US" sz="2400" dirty="0" err="1"/>
              <a:t>TE.Name</a:t>
            </a:r>
            <a:r>
              <a:rPr lang="en-US" sz="2400" dirty="0"/>
              <a:t>;</a:t>
            </a:r>
            <a:endParaRPr lang="ru-RU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34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545" y="756815"/>
            <a:ext cx="8051440" cy="5176243"/>
          </a:xfrm>
          <a:prstGeom prst="rect">
            <a:avLst/>
          </a:prstGeom>
        </p:spPr>
      </p:pic>
      <p:pic>
        <p:nvPicPr>
          <p:cNvPr id="9" name="object 13"/>
          <p:cNvPicPr/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2015" y="308496"/>
            <a:ext cx="3754406" cy="8966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92015" y="433650"/>
            <a:ext cx="28005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altLang="ru-RU" sz="3600" b="1" dirty="0"/>
              <a:t>Сравнение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576" y="1236542"/>
            <a:ext cx="4177145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SELECT DISTINCT </a:t>
            </a:r>
            <a:r>
              <a:rPr lang="en-US" sz="2000" dirty="0" err="1"/>
              <a:t>TE.Name</a:t>
            </a:r>
            <a:endParaRPr lang="en-US" sz="2000" dirty="0"/>
          </a:p>
          <a:p>
            <a:r>
              <a:rPr lang="en-US" sz="2000" dirty="0"/>
              <a:t>FROM </a:t>
            </a:r>
            <a:r>
              <a:rPr lang="en-US" sz="2000" dirty="0" err="1"/>
              <a:t>Type_equipment</a:t>
            </a:r>
            <a:r>
              <a:rPr lang="en-US" sz="2000" dirty="0"/>
              <a:t> TE</a:t>
            </a:r>
          </a:p>
          <a:p>
            <a:r>
              <a:rPr lang="en-US" sz="2000" dirty="0"/>
              <a:t>WHERE </a:t>
            </a:r>
            <a:r>
              <a:rPr lang="en-US" sz="2000" b="1" dirty="0"/>
              <a:t>NOT EXISTS </a:t>
            </a:r>
            <a:r>
              <a:rPr lang="en-US" sz="2000" dirty="0"/>
              <a:t>(</a:t>
            </a:r>
          </a:p>
          <a:p>
            <a:r>
              <a:rPr lang="en-US" sz="2000" dirty="0"/>
              <a:t>    SELECT 1 FROM Equipment E</a:t>
            </a:r>
          </a:p>
          <a:p>
            <a:r>
              <a:rPr lang="en-US" sz="2000" dirty="0"/>
              <a:t>    WHERE </a:t>
            </a:r>
            <a:r>
              <a:rPr lang="en-US" sz="2000" dirty="0" err="1"/>
              <a:t>E.typeID</a:t>
            </a:r>
            <a:r>
              <a:rPr lang="en-US" sz="2000" dirty="0"/>
              <a:t> = </a:t>
            </a:r>
            <a:r>
              <a:rPr lang="en-US" sz="2000" dirty="0" err="1"/>
              <a:t>TE.typeID</a:t>
            </a:r>
            <a:r>
              <a:rPr lang="en-US" sz="2000" dirty="0"/>
              <a:t> AND </a:t>
            </a:r>
            <a:r>
              <a:rPr lang="en-US" sz="2000" dirty="0" err="1"/>
              <a:t>E.InstallationDate</a:t>
            </a:r>
            <a:r>
              <a:rPr lang="en-US" sz="2000" dirty="0"/>
              <a:t> &gt;= CURRENT_DATE - INTERVAL '5 years')</a:t>
            </a:r>
          </a:p>
          <a:p>
            <a:r>
              <a:rPr lang="en-US" sz="2000" dirty="0"/>
              <a:t>ORDER BY </a:t>
            </a:r>
            <a:r>
              <a:rPr lang="en-US" sz="2000" dirty="0" err="1"/>
              <a:t>TE.Name</a:t>
            </a:r>
            <a:r>
              <a:rPr lang="en-US" sz="2000" dirty="0"/>
              <a:t>;</a:t>
            </a:r>
            <a:endParaRPr lang="ru-RU" sz="2000" dirty="0"/>
          </a:p>
          <a:p>
            <a:endParaRPr lang="ru-RU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7740" b="-7873"/>
          <a:stretch/>
        </p:blipFill>
        <p:spPr>
          <a:xfrm>
            <a:off x="4488873" y="4404950"/>
            <a:ext cx="7439672" cy="3610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" r="47910" b="-9775"/>
          <a:stretch/>
        </p:blipFill>
        <p:spPr>
          <a:xfrm>
            <a:off x="3021013" y="838055"/>
            <a:ext cx="8976848" cy="3984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917" b="13717"/>
          <a:stretch/>
        </p:blipFill>
        <p:spPr>
          <a:xfrm>
            <a:off x="4530438" y="3152046"/>
            <a:ext cx="7384040" cy="3626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20" y="4884674"/>
            <a:ext cx="4642441" cy="155915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649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624" y="1205136"/>
            <a:ext cx="8914144" cy="3837920"/>
          </a:xfrm>
          <a:prstGeom prst="rect">
            <a:avLst/>
          </a:prstGeom>
        </p:spPr>
      </p:pic>
      <p:pic>
        <p:nvPicPr>
          <p:cNvPr id="9" name="object 13"/>
          <p:cNvPicPr/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2015" y="308496"/>
            <a:ext cx="4366130" cy="8966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92015" y="433650"/>
            <a:ext cx="41721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altLang="ru-RU" sz="3600" b="1" dirty="0" smtClean="0"/>
              <a:t>Сравнение</a:t>
            </a:r>
            <a:endParaRPr lang="ru-RU" altLang="ru-RU" sz="3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11728" y="1236542"/>
            <a:ext cx="5077690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smtClean="0"/>
              <a:t>EXPLAIN ( ANALYZE, BUFFERS, VERBOSE)</a:t>
            </a:r>
          </a:p>
          <a:p>
            <a:r>
              <a:rPr lang="en-US" sz="2000" smtClean="0"/>
              <a:t>SELECT TE.Name FROM Type_equipment TE</a:t>
            </a:r>
          </a:p>
          <a:p>
            <a:r>
              <a:rPr lang="en-US" sz="2000" b="1" smtClean="0"/>
              <a:t>EXCEPT</a:t>
            </a:r>
            <a:r>
              <a:rPr lang="en-US" sz="2000" smtClean="0"/>
              <a:t> </a:t>
            </a:r>
          </a:p>
          <a:p>
            <a:r>
              <a:rPr lang="en-US" sz="2000" smtClean="0"/>
              <a:t>SELECT TE2.Name FROM Type_equipment TE2 JOIN Equipment E ON E.typeID = TE2.typeID</a:t>
            </a:r>
          </a:p>
          <a:p>
            <a:r>
              <a:rPr lang="en-US" sz="2000" smtClean="0"/>
              <a:t>WHERE E.InstallationDate &gt;= CURRENT_DATE - INTERVAL '5 years'</a:t>
            </a:r>
          </a:p>
          <a:p>
            <a:r>
              <a:rPr lang="en-US" sz="2000" smtClean="0"/>
              <a:t>ORDER BY Name;</a:t>
            </a:r>
            <a:endParaRPr lang="ru-RU" sz="2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750" y="4564202"/>
            <a:ext cx="8816272" cy="29905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62" b="14670"/>
          <a:stretch/>
        </p:blipFill>
        <p:spPr>
          <a:xfrm>
            <a:off x="5509131" y="1236542"/>
            <a:ext cx="6258024" cy="28745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64" b="20405"/>
          <a:stretch/>
        </p:blipFill>
        <p:spPr>
          <a:xfrm>
            <a:off x="3151750" y="3951288"/>
            <a:ext cx="8181270" cy="3371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01" y="4941375"/>
            <a:ext cx="4257012" cy="168611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98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3"/>
          <p:cNvPicPr/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2015" y="308496"/>
            <a:ext cx="4269149" cy="8966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92015" y="433650"/>
            <a:ext cx="40751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altLang="ru-RU" sz="3600" b="1" dirty="0" smtClean="0"/>
              <a:t>Сравнение</a:t>
            </a:r>
            <a:r>
              <a:rPr lang="en-US" altLang="ru-RU" sz="3600" b="1" dirty="0" smtClean="0"/>
              <a:t> Plans</a:t>
            </a:r>
            <a:endParaRPr lang="ru-RU" altLang="ru-RU" sz="3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62562" y="1143374"/>
            <a:ext cx="5077690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EXPLAIN ( ANALYZE, BUFFERS, VERBOSE)</a:t>
            </a:r>
          </a:p>
          <a:p>
            <a:r>
              <a:rPr lang="en-US" sz="2000" dirty="0"/>
              <a:t>SELECT DISTINCT </a:t>
            </a:r>
            <a:r>
              <a:rPr lang="en-US" sz="2000" dirty="0" err="1"/>
              <a:t>TE.Name</a:t>
            </a:r>
            <a:endParaRPr lang="en-US" sz="2000" dirty="0"/>
          </a:p>
          <a:p>
            <a:r>
              <a:rPr lang="en-US" sz="2000" dirty="0"/>
              <a:t>FROM </a:t>
            </a:r>
            <a:r>
              <a:rPr lang="en-US" sz="2000" dirty="0" err="1"/>
              <a:t>Type_equipment</a:t>
            </a:r>
            <a:r>
              <a:rPr lang="en-US" sz="2000" dirty="0"/>
              <a:t> TE</a:t>
            </a:r>
          </a:p>
          <a:p>
            <a:r>
              <a:rPr lang="en-US" sz="2000" dirty="0"/>
              <a:t>WHERE </a:t>
            </a:r>
            <a:r>
              <a:rPr lang="en-US" sz="2000" dirty="0" err="1"/>
              <a:t>TE.typeID</a:t>
            </a:r>
            <a:r>
              <a:rPr lang="en-US" sz="2000" dirty="0"/>
              <a:t> </a:t>
            </a:r>
            <a:r>
              <a:rPr lang="en-US" sz="2000" b="1" dirty="0"/>
              <a:t>NOT IN </a:t>
            </a:r>
            <a:r>
              <a:rPr lang="en-US" sz="2000" dirty="0"/>
              <a:t>(</a:t>
            </a:r>
          </a:p>
          <a:p>
            <a:r>
              <a:rPr lang="en-US" sz="2000" dirty="0"/>
              <a:t>	SELECT </a:t>
            </a:r>
            <a:r>
              <a:rPr lang="en-US" sz="2000" dirty="0" err="1"/>
              <a:t>E.typeID</a:t>
            </a:r>
            <a:r>
              <a:rPr lang="en-US" sz="2000" dirty="0"/>
              <a:t> FROM equipment E</a:t>
            </a:r>
          </a:p>
          <a:p>
            <a:r>
              <a:rPr lang="en-US" sz="2000" dirty="0"/>
              <a:t>	WHERE </a:t>
            </a:r>
            <a:r>
              <a:rPr lang="en-US" sz="2000" dirty="0" err="1"/>
              <a:t>E.InstallationDate</a:t>
            </a:r>
            <a:r>
              <a:rPr lang="en-US" sz="2000" dirty="0"/>
              <a:t> &gt;= CURRENT_DATE - INTERVAL '5 years' )</a:t>
            </a:r>
          </a:p>
          <a:p>
            <a:r>
              <a:rPr lang="en-US" sz="2000" dirty="0"/>
              <a:t>ORDER BY </a:t>
            </a:r>
            <a:r>
              <a:rPr lang="en-US" sz="2000" dirty="0" err="1"/>
              <a:t>TE.Name</a:t>
            </a:r>
            <a:r>
              <a:rPr lang="en-US" sz="2000" dirty="0"/>
              <a:t>;</a:t>
            </a:r>
            <a:endParaRPr lang="ru-RU" sz="2000" dirty="0"/>
          </a:p>
        </p:txBody>
      </p:sp>
      <p:sp>
        <p:nvSpPr>
          <p:cNvPr id="4" name="Rectangle 3"/>
          <p:cNvSpPr/>
          <p:nvPr/>
        </p:nvSpPr>
        <p:spPr>
          <a:xfrm>
            <a:off x="472490" y="4343622"/>
            <a:ext cx="4499939" cy="17162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smtClean="0"/>
              <a:t>Planning: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Buffers: Shared?? hit=?? Read=??</a:t>
            </a:r>
          </a:p>
          <a:p>
            <a:r>
              <a:rPr lang="en-US" sz="2000" dirty="0" smtClean="0"/>
              <a:t>Planning Time: ????? Hours</a:t>
            </a:r>
          </a:p>
          <a:p>
            <a:r>
              <a:rPr lang="en-US" sz="2000" dirty="0" smtClean="0"/>
              <a:t>Execution Time: ??????.?? Hours</a:t>
            </a:r>
          </a:p>
          <a:p>
            <a:r>
              <a:rPr lang="en-US" sz="2000" dirty="0" smtClean="0"/>
              <a:t>(??? rows )</a:t>
            </a:r>
            <a:endParaRPr lang="ru-RU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06"/>
          <a:stretch/>
        </p:blipFill>
        <p:spPr>
          <a:xfrm>
            <a:off x="4675233" y="3796123"/>
            <a:ext cx="7114985" cy="76807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64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3"/>
          <p:cNvPicPr/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2016" y="308496"/>
            <a:ext cx="5876276" cy="8966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4942" y="408378"/>
            <a:ext cx="54329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altLang="ru-RU" sz="3600" b="1" dirty="0" smtClean="0"/>
              <a:t>Сравнени</a:t>
            </a:r>
            <a:r>
              <a:rPr lang="en-US" altLang="ru-RU" sz="3600" b="1" dirty="0" smtClean="0"/>
              <a:t>e </a:t>
            </a:r>
            <a:r>
              <a:rPr lang="ru-RU" altLang="ru-RU" sz="3600" b="1" dirty="0" smtClean="0"/>
              <a:t>с </a:t>
            </a:r>
            <a:r>
              <a:rPr lang="ru-RU" altLang="ru-RU" sz="3600" b="1" dirty="0"/>
              <a:t>индексами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901" y="1236542"/>
            <a:ext cx="10992626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CREATE INDEX </a:t>
            </a:r>
            <a:r>
              <a:rPr lang="en-US" sz="2400" dirty="0" err="1"/>
              <a:t>idx_equipment_typeid_date</a:t>
            </a:r>
            <a:r>
              <a:rPr lang="en-US" sz="2400" dirty="0"/>
              <a:t> ON </a:t>
            </a:r>
            <a:r>
              <a:rPr lang="en-US" sz="2400" b="1" dirty="0" smtClean="0"/>
              <a:t>Equipment </a:t>
            </a:r>
            <a:r>
              <a:rPr lang="en-US" sz="2400" dirty="0" smtClean="0"/>
              <a:t>(</a:t>
            </a:r>
            <a:r>
              <a:rPr lang="en-US" sz="2400" dirty="0" err="1"/>
              <a:t>typeID</a:t>
            </a:r>
            <a:r>
              <a:rPr lang="en-US" sz="2400" dirty="0"/>
              <a:t>, </a:t>
            </a:r>
            <a:r>
              <a:rPr lang="en-US" sz="2400" dirty="0" err="1"/>
              <a:t>InstallationDate</a:t>
            </a:r>
            <a:r>
              <a:rPr lang="en-US" sz="2400" dirty="0"/>
              <a:t>);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72901" y="1754935"/>
            <a:ext cx="10992626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b="1" dirty="0"/>
              <a:t>CREATE INDEX </a:t>
            </a:r>
            <a:r>
              <a:rPr lang="ru-RU" sz="2400" dirty="0"/>
              <a:t>idx_type_equipment_name ON </a:t>
            </a:r>
            <a:r>
              <a:rPr lang="ru-RU" sz="2400" b="1" dirty="0"/>
              <a:t>Type_equipment</a:t>
            </a:r>
            <a:r>
              <a:rPr lang="ru-RU" sz="2400" dirty="0"/>
              <a:t>(Name);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6348" y="2971999"/>
            <a:ext cx="5077690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smtClean="0"/>
              <a:t>EXPLAIN ( ANALYZE, BUFFERS, VERBOSE)</a:t>
            </a:r>
          </a:p>
          <a:p>
            <a:r>
              <a:rPr lang="en-US" sz="2000" smtClean="0"/>
              <a:t>SELECT TE.Name FROM Type_equipment TE</a:t>
            </a:r>
          </a:p>
          <a:p>
            <a:r>
              <a:rPr lang="en-US" sz="2000" b="1" smtClean="0"/>
              <a:t>EXCEPT</a:t>
            </a:r>
            <a:r>
              <a:rPr lang="en-US" sz="2000" smtClean="0"/>
              <a:t> </a:t>
            </a:r>
          </a:p>
          <a:p>
            <a:r>
              <a:rPr lang="en-US" sz="2000" smtClean="0"/>
              <a:t>SELECT TE2.Name FROM Type_equipment TE2 JOIN Equipment E ON E.typeID = TE2.typeID</a:t>
            </a:r>
          </a:p>
          <a:p>
            <a:r>
              <a:rPr lang="en-US" sz="2000" smtClean="0"/>
              <a:t>WHERE E.InstallationDate &gt;= CURRENT_DATE - INTERVAL '5 years'</a:t>
            </a:r>
          </a:p>
          <a:p>
            <a:r>
              <a:rPr lang="en-US" sz="2000" smtClean="0"/>
              <a:t>ORDER BY Name;</a:t>
            </a:r>
            <a:endParaRPr lang="ru-RU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31666" y="2971999"/>
            <a:ext cx="5328807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SELECT DISTINCT </a:t>
            </a:r>
            <a:r>
              <a:rPr lang="en-US" sz="2000" dirty="0" err="1"/>
              <a:t>TE.Name</a:t>
            </a:r>
            <a:endParaRPr lang="en-US" sz="2000" dirty="0"/>
          </a:p>
          <a:p>
            <a:r>
              <a:rPr lang="en-US" sz="2000" dirty="0"/>
              <a:t>FROM </a:t>
            </a:r>
            <a:r>
              <a:rPr lang="en-US" sz="2000" dirty="0" err="1"/>
              <a:t>Type_equipment</a:t>
            </a:r>
            <a:r>
              <a:rPr lang="en-US" sz="2000" dirty="0"/>
              <a:t> TE</a:t>
            </a:r>
          </a:p>
          <a:p>
            <a:r>
              <a:rPr lang="en-US" sz="2000" dirty="0"/>
              <a:t>WHERE </a:t>
            </a:r>
            <a:r>
              <a:rPr lang="en-US" sz="2000" b="1" dirty="0"/>
              <a:t>NOT EXISTS </a:t>
            </a:r>
            <a:r>
              <a:rPr lang="en-US" sz="2000" dirty="0"/>
              <a:t>(</a:t>
            </a:r>
          </a:p>
          <a:p>
            <a:r>
              <a:rPr lang="en-US" sz="2000" dirty="0"/>
              <a:t>    SELECT 1 FROM Equipment E</a:t>
            </a:r>
          </a:p>
          <a:p>
            <a:r>
              <a:rPr lang="en-US" sz="2000" dirty="0"/>
              <a:t>    WHERE </a:t>
            </a:r>
            <a:r>
              <a:rPr lang="en-US" sz="2000" dirty="0" err="1"/>
              <a:t>E.typeID</a:t>
            </a:r>
            <a:r>
              <a:rPr lang="en-US" sz="2000" dirty="0"/>
              <a:t> = </a:t>
            </a:r>
            <a:r>
              <a:rPr lang="en-US" sz="2000" dirty="0" err="1"/>
              <a:t>TE.typeID</a:t>
            </a:r>
            <a:r>
              <a:rPr lang="en-US" sz="2000" dirty="0"/>
              <a:t> AND </a:t>
            </a:r>
            <a:r>
              <a:rPr lang="en-US" sz="2000" dirty="0" err="1"/>
              <a:t>E.InstallationDate</a:t>
            </a:r>
            <a:r>
              <a:rPr lang="en-US" sz="2000" dirty="0"/>
              <a:t> &gt;= CURRENT_DATE - INTERVAL '5 years')</a:t>
            </a:r>
          </a:p>
          <a:p>
            <a:r>
              <a:rPr lang="en-US" sz="2000" dirty="0"/>
              <a:t>ORDER BY </a:t>
            </a:r>
            <a:r>
              <a:rPr lang="en-US" sz="2000" dirty="0" err="1"/>
              <a:t>TE.Name</a:t>
            </a:r>
            <a:r>
              <a:rPr lang="en-US" sz="2000" dirty="0" smtClean="0"/>
              <a:t>;</a:t>
            </a:r>
            <a:endParaRPr lang="ru-RU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51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545" y="756815"/>
            <a:ext cx="8051440" cy="517624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90947" y="1030711"/>
            <a:ext cx="4177145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SELECT DISTINCT </a:t>
            </a:r>
            <a:r>
              <a:rPr lang="en-US" sz="2000" dirty="0" err="1"/>
              <a:t>TE.Name</a:t>
            </a:r>
            <a:endParaRPr lang="en-US" sz="2000" dirty="0"/>
          </a:p>
          <a:p>
            <a:r>
              <a:rPr lang="en-US" sz="2000" dirty="0"/>
              <a:t>FROM </a:t>
            </a:r>
            <a:r>
              <a:rPr lang="en-US" sz="2000" dirty="0" err="1"/>
              <a:t>Type_equipment</a:t>
            </a:r>
            <a:r>
              <a:rPr lang="en-US" sz="2000" dirty="0"/>
              <a:t> TE</a:t>
            </a:r>
          </a:p>
          <a:p>
            <a:r>
              <a:rPr lang="en-US" sz="2000" dirty="0"/>
              <a:t>WHERE </a:t>
            </a:r>
            <a:r>
              <a:rPr lang="en-US" sz="2000" b="1" dirty="0"/>
              <a:t>NOT EXISTS </a:t>
            </a:r>
            <a:r>
              <a:rPr lang="en-US" sz="2000" dirty="0"/>
              <a:t>(</a:t>
            </a:r>
          </a:p>
          <a:p>
            <a:r>
              <a:rPr lang="en-US" sz="2000" dirty="0"/>
              <a:t>    SELECT 1 FROM Equipment E</a:t>
            </a:r>
          </a:p>
          <a:p>
            <a:r>
              <a:rPr lang="en-US" sz="2000" dirty="0"/>
              <a:t>    WHERE </a:t>
            </a:r>
            <a:r>
              <a:rPr lang="en-US" sz="2000" dirty="0" err="1"/>
              <a:t>E.typeID</a:t>
            </a:r>
            <a:r>
              <a:rPr lang="en-US" sz="2000" dirty="0"/>
              <a:t> = </a:t>
            </a:r>
            <a:r>
              <a:rPr lang="en-US" sz="2000" dirty="0" err="1"/>
              <a:t>TE.typeID</a:t>
            </a:r>
            <a:r>
              <a:rPr lang="en-US" sz="2000" dirty="0"/>
              <a:t> AND </a:t>
            </a:r>
            <a:r>
              <a:rPr lang="en-US" sz="2000" dirty="0" err="1"/>
              <a:t>E.InstallationDate</a:t>
            </a:r>
            <a:r>
              <a:rPr lang="en-US" sz="2000" dirty="0"/>
              <a:t> &gt;= CURRENT_DATE - INTERVAL '5 years')</a:t>
            </a:r>
          </a:p>
          <a:p>
            <a:r>
              <a:rPr lang="en-US" sz="2000" dirty="0"/>
              <a:t>ORDER BY </a:t>
            </a:r>
            <a:r>
              <a:rPr lang="en-US" sz="2000" dirty="0" err="1"/>
              <a:t>TE.Name</a:t>
            </a:r>
            <a:r>
              <a:rPr lang="en-US" sz="2000" dirty="0" smtClean="0"/>
              <a:t>;</a:t>
            </a:r>
            <a:endParaRPr lang="ru-RU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" t="22558" r="22625" b="8011"/>
          <a:stretch/>
        </p:blipFill>
        <p:spPr>
          <a:xfrm>
            <a:off x="3510179" y="3344936"/>
            <a:ext cx="8390877" cy="3602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8518" b="-5257"/>
          <a:stretch/>
        </p:blipFill>
        <p:spPr>
          <a:xfrm>
            <a:off x="3635844" y="4457850"/>
            <a:ext cx="8139546" cy="357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2"/>
          <a:stretch/>
        </p:blipFill>
        <p:spPr>
          <a:xfrm>
            <a:off x="385626" y="5043055"/>
            <a:ext cx="4400546" cy="148902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44204" b="5461"/>
          <a:stretch/>
        </p:blipFill>
        <p:spPr>
          <a:xfrm>
            <a:off x="4073236" y="1953488"/>
            <a:ext cx="7703128" cy="36429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65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624" y="1205136"/>
            <a:ext cx="8914144" cy="383792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11728" y="848604"/>
            <a:ext cx="5022272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smtClean="0"/>
              <a:t>EXPLAIN ( ANALYZE, BUFFERS, VERBOSE)</a:t>
            </a:r>
          </a:p>
          <a:p>
            <a:r>
              <a:rPr lang="en-US" sz="2000" dirty="0" smtClean="0"/>
              <a:t>SELECT </a:t>
            </a:r>
            <a:r>
              <a:rPr lang="en-US" sz="2000" dirty="0" err="1" smtClean="0"/>
              <a:t>TE.Name</a:t>
            </a:r>
            <a:r>
              <a:rPr lang="en-US" sz="2000" dirty="0" smtClean="0"/>
              <a:t> FROM </a:t>
            </a:r>
            <a:r>
              <a:rPr lang="en-US" sz="2000" dirty="0" err="1" smtClean="0"/>
              <a:t>Type_equipment</a:t>
            </a:r>
            <a:r>
              <a:rPr lang="en-US" sz="2000" dirty="0" smtClean="0"/>
              <a:t> TE</a:t>
            </a:r>
          </a:p>
          <a:p>
            <a:r>
              <a:rPr lang="en-US" sz="2000" b="1" dirty="0" smtClean="0"/>
              <a:t>EXCEPT</a:t>
            </a:r>
            <a:r>
              <a:rPr lang="en-US" sz="2000" dirty="0" smtClean="0"/>
              <a:t> </a:t>
            </a:r>
          </a:p>
          <a:p>
            <a:r>
              <a:rPr lang="en-US" sz="2000" dirty="0" smtClean="0"/>
              <a:t>SELECT TE2.Name FROM </a:t>
            </a:r>
            <a:r>
              <a:rPr lang="en-US" sz="2000" dirty="0" err="1" smtClean="0"/>
              <a:t>Type_equipment</a:t>
            </a:r>
            <a:r>
              <a:rPr lang="en-US" sz="2000" dirty="0" smtClean="0"/>
              <a:t> TE2 JOIN Equipment E ON </a:t>
            </a:r>
            <a:r>
              <a:rPr lang="en-US" sz="2000" dirty="0" err="1" smtClean="0"/>
              <a:t>E.typeID</a:t>
            </a:r>
            <a:r>
              <a:rPr lang="en-US" sz="2000" dirty="0" smtClean="0"/>
              <a:t> = TE2.typeID</a:t>
            </a:r>
          </a:p>
          <a:p>
            <a:r>
              <a:rPr lang="en-US" sz="2000" dirty="0" smtClean="0"/>
              <a:t>WHERE </a:t>
            </a:r>
            <a:r>
              <a:rPr lang="en-US" sz="2000" dirty="0" err="1" smtClean="0"/>
              <a:t>E.InstallationDate</a:t>
            </a:r>
            <a:r>
              <a:rPr lang="en-US" sz="2000" dirty="0" smtClean="0"/>
              <a:t> &gt;= CURRENT_DATE - INTERVAL '5 years'</a:t>
            </a:r>
          </a:p>
          <a:p>
            <a:r>
              <a:rPr lang="en-US" sz="2000" dirty="0" smtClean="0"/>
              <a:t>ORDER BY Name;</a:t>
            </a:r>
            <a:endParaRPr lang="ru-RU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1" b="9396"/>
          <a:stretch/>
        </p:blipFill>
        <p:spPr>
          <a:xfrm>
            <a:off x="3241964" y="3542396"/>
            <a:ext cx="8471723" cy="3535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084" y="4082420"/>
            <a:ext cx="8157481" cy="3862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451" y="2912188"/>
            <a:ext cx="7815317" cy="3843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r="42279" b="19790"/>
          <a:stretch/>
        </p:blipFill>
        <p:spPr>
          <a:xfrm>
            <a:off x="4793670" y="787106"/>
            <a:ext cx="7109330" cy="3416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21" y="5003599"/>
            <a:ext cx="5072262" cy="138334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74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75180" y="1080784"/>
            <a:ext cx="5077690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EXPLAIN ( ANALYZE, BUFFERS, VERBOSE)</a:t>
            </a:r>
          </a:p>
          <a:p>
            <a:r>
              <a:rPr lang="en-US" sz="2000" dirty="0"/>
              <a:t>SELECT DISTINCT </a:t>
            </a:r>
            <a:r>
              <a:rPr lang="en-US" sz="2000" dirty="0" err="1"/>
              <a:t>TE.Name</a:t>
            </a:r>
            <a:endParaRPr lang="en-US" sz="2000" dirty="0"/>
          </a:p>
          <a:p>
            <a:r>
              <a:rPr lang="en-US" sz="2000" dirty="0"/>
              <a:t>FROM </a:t>
            </a:r>
            <a:r>
              <a:rPr lang="en-US" sz="2000" dirty="0" err="1"/>
              <a:t>Type_equipment</a:t>
            </a:r>
            <a:r>
              <a:rPr lang="en-US" sz="2000" dirty="0"/>
              <a:t> TE</a:t>
            </a:r>
          </a:p>
          <a:p>
            <a:r>
              <a:rPr lang="en-US" sz="2000" dirty="0"/>
              <a:t>WHERE </a:t>
            </a:r>
            <a:r>
              <a:rPr lang="en-US" sz="2000" dirty="0" err="1"/>
              <a:t>TE.typeID</a:t>
            </a:r>
            <a:r>
              <a:rPr lang="en-US" sz="2000" dirty="0"/>
              <a:t> </a:t>
            </a:r>
            <a:r>
              <a:rPr lang="en-US" sz="2000" b="1" dirty="0"/>
              <a:t>NOT IN </a:t>
            </a:r>
            <a:r>
              <a:rPr lang="en-US" sz="2000" dirty="0"/>
              <a:t>(</a:t>
            </a:r>
          </a:p>
          <a:p>
            <a:r>
              <a:rPr lang="en-US" sz="2000" dirty="0"/>
              <a:t>	SELECT </a:t>
            </a:r>
            <a:r>
              <a:rPr lang="en-US" sz="2000" dirty="0" err="1"/>
              <a:t>E.typeID</a:t>
            </a:r>
            <a:r>
              <a:rPr lang="en-US" sz="2000" dirty="0"/>
              <a:t> FROM equipment E</a:t>
            </a:r>
          </a:p>
          <a:p>
            <a:r>
              <a:rPr lang="en-US" sz="2000" dirty="0"/>
              <a:t>	WHERE </a:t>
            </a:r>
            <a:r>
              <a:rPr lang="en-US" sz="2000" dirty="0" err="1"/>
              <a:t>E.InstallationDate</a:t>
            </a:r>
            <a:r>
              <a:rPr lang="en-US" sz="2000" dirty="0"/>
              <a:t> &gt;= CURRENT_DATE - INTERVAL '5 years' )</a:t>
            </a:r>
          </a:p>
          <a:p>
            <a:r>
              <a:rPr lang="en-US" sz="2000" dirty="0"/>
              <a:t>ORDER BY </a:t>
            </a:r>
            <a:r>
              <a:rPr lang="en-US" sz="2000" dirty="0" err="1"/>
              <a:t>TE.Name</a:t>
            </a:r>
            <a:r>
              <a:rPr lang="en-US" sz="2000" dirty="0"/>
              <a:t>;</a:t>
            </a:r>
            <a:endParaRPr lang="ru-RU" sz="2000" dirty="0"/>
          </a:p>
        </p:txBody>
      </p:sp>
      <p:sp>
        <p:nvSpPr>
          <p:cNvPr id="4" name="Rectangle 3"/>
          <p:cNvSpPr/>
          <p:nvPr/>
        </p:nvSpPr>
        <p:spPr>
          <a:xfrm>
            <a:off x="6096000" y="3851565"/>
            <a:ext cx="5180165" cy="197280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smtClean="0"/>
              <a:t>Planning: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Buffers: Shared?? hit=?? Read=??</a:t>
            </a:r>
          </a:p>
          <a:p>
            <a:r>
              <a:rPr lang="en-US" sz="2000" dirty="0" smtClean="0"/>
              <a:t>Planning Time: ????? Hours</a:t>
            </a:r>
          </a:p>
          <a:p>
            <a:r>
              <a:rPr lang="en-US" sz="2000" dirty="0" smtClean="0"/>
              <a:t>Execution Time: ??????.?? Hours</a:t>
            </a:r>
          </a:p>
          <a:p>
            <a:r>
              <a:rPr lang="en-US" sz="2000" dirty="0" smtClean="0"/>
              <a:t>(??? rows )</a:t>
            </a:r>
            <a:endParaRPr lang="ru-RU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63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3"/>
          <p:cNvPicPr/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2016" y="308496"/>
            <a:ext cx="2717439" cy="8966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248571"/>
              </p:ext>
            </p:extLst>
          </p:nvPr>
        </p:nvGraphicFramePr>
        <p:xfrm>
          <a:off x="993883" y="1395388"/>
          <a:ext cx="10204234" cy="19404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3034">
                  <a:extLst>
                    <a:ext uri="{9D8B030D-6E8A-4147-A177-3AD203B41FA5}">
                      <a16:colId xmlns:a16="http://schemas.microsoft.com/office/drawing/2014/main" val="3706361028"/>
                    </a:ext>
                  </a:extLst>
                </a:gridCol>
                <a:gridCol w="4546336">
                  <a:extLst>
                    <a:ext uri="{9D8B030D-6E8A-4147-A177-3AD203B41FA5}">
                      <a16:colId xmlns:a16="http://schemas.microsoft.com/office/drawing/2014/main" val="1283514771"/>
                    </a:ext>
                  </a:extLst>
                </a:gridCol>
                <a:gridCol w="3004864">
                  <a:extLst>
                    <a:ext uri="{9D8B030D-6E8A-4147-A177-3AD203B41FA5}">
                      <a16:colId xmlns:a16="http://schemas.microsoft.com/office/drawing/2014/main" val="2868906617"/>
                    </a:ext>
                  </a:extLst>
                </a:gridCol>
              </a:tblGrid>
              <a:tr h="568806">
                <a:tc>
                  <a:txBody>
                    <a:bodyPr/>
                    <a:lstStyle/>
                    <a:p>
                      <a:r>
                        <a:rPr lang="ru-RU" sz="2400" b="1" dirty="0" smtClean="0"/>
                        <a:t>Запрос	</a:t>
                      </a:r>
                      <a:endParaRPr lang="ru-RU" sz="24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 smtClean="0"/>
                        <a:t>Время без индексов</a:t>
                      </a:r>
                      <a:endParaRPr lang="ru-RU" sz="24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/>
                        <a:t>Время с индексами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811896"/>
                  </a:ext>
                </a:extLst>
              </a:tr>
              <a:tr h="450139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EXCEPT</a:t>
                      </a:r>
                      <a:endParaRPr lang="ru-RU" sz="24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47.708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ru-RU" sz="2400" dirty="0" smtClean="0"/>
                        <a:t>сек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16.408 </a:t>
                      </a:r>
                      <a:r>
                        <a:rPr lang="ru-RU" sz="2400" dirty="0" smtClean="0"/>
                        <a:t>сек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916815"/>
                  </a:ext>
                </a:extLst>
              </a:tr>
              <a:tr h="450139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NOT EXISTS</a:t>
                      </a:r>
                      <a:endParaRPr lang="ru-RU" sz="24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10.302 </a:t>
                      </a:r>
                      <a:r>
                        <a:rPr lang="ru-RU" sz="2400" dirty="0" smtClean="0"/>
                        <a:t>сек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32.192 </a:t>
                      </a:r>
                      <a:r>
                        <a:rPr lang="ru-RU" sz="2400" dirty="0" smtClean="0"/>
                        <a:t>сек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0404"/>
                  </a:ext>
                </a:extLst>
              </a:tr>
              <a:tr h="450139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NOT IN</a:t>
                      </a:r>
                      <a:endParaRPr lang="ru-RU" sz="24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???.?? </a:t>
                      </a:r>
                      <a:r>
                        <a:rPr lang="ru-RU" sz="2400" dirty="0" smtClean="0"/>
                        <a:t>сек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???.?? </a:t>
                      </a:r>
                      <a:r>
                        <a:rPr lang="ru-RU" sz="2400" dirty="0" smtClean="0"/>
                        <a:t>сек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35326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92014" y="433650"/>
            <a:ext cx="2563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altLang="ru-RU" sz="3600" b="1" dirty="0" smtClean="0"/>
              <a:t>Выводы</a:t>
            </a:r>
            <a:endParaRPr lang="ru-RU" altLang="ru-RU" sz="36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681747"/>
              </p:ext>
            </p:extLst>
          </p:nvPr>
        </p:nvGraphicFramePr>
        <p:xfrm>
          <a:off x="800100" y="3807760"/>
          <a:ext cx="10591800" cy="273945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530600">
                  <a:extLst>
                    <a:ext uri="{9D8B030D-6E8A-4147-A177-3AD203B41FA5}">
                      <a16:colId xmlns:a16="http://schemas.microsoft.com/office/drawing/2014/main" val="1895242970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4049265722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14577757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</a:rPr>
                        <a:t>Характеристика</a:t>
                      </a:r>
                      <a:endParaRPr lang="ru-RU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</a:rPr>
                        <a:t>NOT EXISTS</a:t>
                      </a:r>
                      <a:endParaRPr lang="ru-RU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EXCEPT</a:t>
                      </a:r>
                      <a:endParaRPr lang="ru-RU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47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</a:rPr>
                        <a:t>Поддержка</a:t>
                      </a:r>
                      <a:r>
                        <a:rPr lang="en-US" sz="2400" b="1" dirty="0">
                          <a:effectLst/>
                        </a:rPr>
                        <a:t> MySQL</a:t>
                      </a:r>
                      <a:endParaRPr lang="ru-RU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Да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Нет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1033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</a:rPr>
                        <a:t>Работа</a:t>
                      </a:r>
                      <a:r>
                        <a:rPr lang="en-US" sz="2400" b="1" dirty="0">
                          <a:effectLst/>
                        </a:rPr>
                        <a:t> с NULL</a:t>
                      </a:r>
                      <a:endParaRPr lang="ru-RU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Отличная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Отличная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0379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Anti Join</a:t>
                      </a:r>
                      <a:endParaRPr lang="ru-RU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Да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Косвенно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900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</a:rPr>
                        <a:t>Дубликаты</a:t>
                      </a:r>
                      <a:endParaRPr lang="ru-RU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Сохраняет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Удаляет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21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</a:rPr>
                        <a:t>Читаемость</a:t>
                      </a:r>
                      <a:endParaRPr lang="ru-RU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Средняя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Очень высокая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2621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</a:rPr>
                        <a:t>Производительность</a:t>
                      </a:r>
                      <a:endParaRPr lang="ru-RU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Очень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высокая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Высокая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206206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25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oogle Shape;2281;p63"/>
          <p:cNvSpPr txBox="1">
            <a:spLocks/>
          </p:cNvSpPr>
          <p:nvPr/>
        </p:nvSpPr>
        <p:spPr>
          <a:xfrm>
            <a:off x="3303219" y="2493109"/>
            <a:ext cx="558556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ru-RU" sz="8000" b="1" dirty="0" smtClean="0">
                <a:solidFill>
                  <a:schemeClr val="accent2"/>
                </a:solidFill>
                <a:latin typeface="Arial Nova Cond" panose="020B0506020202020204" pitchFamily="34" charset="0"/>
              </a:rPr>
              <a:t>СПАСИБО!</a:t>
            </a:r>
            <a:endParaRPr lang="en-US" sz="8000" b="1" dirty="0">
              <a:solidFill>
                <a:schemeClr val="accent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0" name="Google Shape;2282;p63"/>
          <p:cNvSpPr txBox="1">
            <a:spLocks/>
          </p:cNvSpPr>
          <p:nvPr/>
        </p:nvSpPr>
        <p:spPr>
          <a:xfrm>
            <a:off x="1829269" y="3551809"/>
            <a:ext cx="8533461" cy="24481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ru-RU" sz="4800" b="1" dirty="0" smtClean="0">
                <a:solidFill>
                  <a:schemeClr val="accent2">
                    <a:lumMod val="50000"/>
                  </a:schemeClr>
                </a:solidFill>
              </a:rPr>
              <a:t>ЕСТЬ ВОПРОСЫ?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1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863</Words>
  <Application>Microsoft Office PowerPoint</Application>
  <PresentationFormat>Widescreen</PresentationFormat>
  <Paragraphs>181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Nova Cond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Muzamil Mia</dc:creator>
  <cp:lastModifiedBy>Muzamil Mia</cp:lastModifiedBy>
  <cp:revision>50</cp:revision>
  <dcterms:created xsi:type="dcterms:W3CDTF">2026-02-12T20:21:31Z</dcterms:created>
  <dcterms:modified xsi:type="dcterms:W3CDTF">2026-05-21T23:38:32Z</dcterms:modified>
  <cp:contentStatus/>
</cp:coreProperties>
</file>