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8" r:id="rId3"/>
    <p:sldId id="299" r:id="rId4"/>
    <p:sldId id="291" r:id="rId5"/>
    <p:sldId id="292" r:id="rId6"/>
    <p:sldId id="306" r:id="rId7"/>
    <p:sldId id="293" r:id="rId8"/>
    <p:sldId id="298" r:id="rId9"/>
    <p:sldId id="302" r:id="rId10"/>
    <p:sldId id="294" r:id="rId11"/>
    <p:sldId id="295" r:id="rId12"/>
    <p:sldId id="304" r:id="rId13"/>
    <p:sldId id="305" r:id="rId14"/>
    <p:sldId id="300" r:id="rId15"/>
    <p:sldId id="301" r:id="rId16"/>
    <p:sldId id="296" r:id="rId17"/>
    <p:sldId id="297" r:id="rId18"/>
    <p:sldId id="303" r:id="rId19"/>
    <p:sldId id="271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BF80CA-ED5C-408E-B78E-B0EF538522C7}" type="datetimeFigureOut">
              <a:rPr lang="ru-RU" smtClean="0"/>
              <a:t>03.07.2026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AB9A99-B50E-4206-8895-0B2C3662B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789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550FC-0FE2-487B-B572-816B95BEF30C}" type="datetime1">
              <a:rPr lang="ru-RU" smtClean="0"/>
              <a:t>03.07.2026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4399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A802-7D98-4D28-BB95-EA76C6663CC9}" type="datetime1">
              <a:rPr lang="ru-RU" smtClean="0"/>
              <a:t>03.07.2026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0005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641D3-58EC-4FD8-889D-A8D858CD3956}" type="datetime1">
              <a:rPr lang="ru-RU" smtClean="0"/>
              <a:t>03.07.2026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0037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E91E7-5B95-4F3E-BC4B-466EDBFBD114}" type="datetime1">
              <a:rPr lang="ru-RU" smtClean="0"/>
              <a:t>03.07.2026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4876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B3A4-C1D0-489F-9CC1-70D23FE8EB86}" type="datetime1">
              <a:rPr lang="ru-RU" smtClean="0"/>
              <a:t>03.07.2026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0163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19DE0-70E8-4D22-9F73-CD7EAA57EE14}" type="datetime1">
              <a:rPr lang="ru-RU" smtClean="0"/>
              <a:t>03.07.2026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5343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3D24-4CB7-4E16-A449-2250DA71F8C0}" type="datetime1">
              <a:rPr lang="ru-RU" smtClean="0"/>
              <a:t>03.07.2026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964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6D542-AEB1-488B-9EC8-C167B4A54DB8}" type="datetime1">
              <a:rPr lang="ru-RU" smtClean="0"/>
              <a:t>03.07.2026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398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F07A4-FF14-4A30-AE45-2C17686E80E8}" type="datetime1">
              <a:rPr lang="ru-RU" smtClean="0"/>
              <a:t>03.07.2026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7606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E3469-DC3A-420D-9633-589DD53DF619}" type="datetime1">
              <a:rPr lang="ru-RU" smtClean="0"/>
              <a:t>03.07.2026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6349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4CC60-ECCB-4CA6-A0D8-9A6E3D1D3688}" type="datetime1">
              <a:rPr lang="ru-RU" smtClean="0"/>
              <a:t>03.07.2026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4620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7D1BB-373F-45DC-99D7-7D96A407F794}" type="datetime1">
              <a:rPr lang="ru-RU" smtClean="0"/>
              <a:t>03.07.2026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3CA71-AF1C-4B92-B0D4-ABCD66AE9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709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202" y="2991262"/>
            <a:ext cx="3820315" cy="373021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92015" y="214746"/>
            <a:ext cx="11807970" cy="6428509"/>
          </a:xfrm>
          <a:prstGeom prst="rect">
            <a:avLst/>
          </a:prstGeom>
          <a:noFill/>
          <a:ln w="88900">
            <a:solidFill>
              <a:schemeClr val="accent2">
                <a:alpha val="8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solidFill>
                <a:schemeClr val="bg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6389" y="1681140"/>
            <a:ext cx="10739222" cy="15696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4800" b="1" dirty="0" smtClean="0">
                <a:solidFill>
                  <a:srgbClr val="002060"/>
                </a:solidFill>
              </a:rPr>
              <a:t>Реализация веб- приложение для</a:t>
            </a:r>
          </a:p>
          <a:p>
            <a:pPr algn="ctr"/>
            <a:r>
              <a:rPr lang="ru-RU" sz="4800" b="1" dirty="0" smtClean="0">
                <a:solidFill>
                  <a:srgbClr val="002060"/>
                </a:solidFill>
              </a:rPr>
              <a:t>молочной компании</a:t>
            </a:r>
            <a:r>
              <a:rPr lang="en-US" sz="4800" b="1" dirty="0" smtClean="0">
                <a:solidFill>
                  <a:srgbClr val="002060"/>
                </a:solidFill>
              </a:rPr>
              <a:t> “Dairy Production”</a:t>
            </a:r>
            <a:endParaRPr lang="ru-RU" sz="4800" b="1" dirty="0">
              <a:solidFill>
                <a:srgbClr val="00206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1</a:t>
            </a:fld>
            <a:endParaRPr lang="ru-RU" dirty="0"/>
          </a:p>
        </p:txBody>
      </p:sp>
      <p:sp>
        <p:nvSpPr>
          <p:cNvPr id="6" name="Подзаголовок 2"/>
          <p:cNvSpPr>
            <a:spLocks noGrp="1"/>
          </p:cNvSpPr>
          <p:nvPr/>
        </p:nvSpPr>
        <p:spPr>
          <a:xfrm>
            <a:off x="4378475" y="4645314"/>
            <a:ext cx="7453281" cy="17110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dirty="0" smtClean="0">
                <a:solidFill>
                  <a:schemeClr val="tx1"/>
                </a:solidFill>
              </a:rPr>
              <a:t>Зав. кафедрой 	к. ф.-м. н., доц. Барановский Е. С.</a:t>
            </a:r>
          </a:p>
          <a:p>
            <a:pPr algn="l"/>
            <a:r>
              <a:rPr lang="ru-RU" sz="2400" dirty="0" smtClean="0">
                <a:solidFill>
                  <a:schemeClr val="tx1"/>
                </a:solidFill>
              </a:rPr>
              <a:t>Обучающийся</a:t>
            </a:r>
            <a:r>
              <a:rPr lang="ru-RU" sz="2400" dirty="0">
                <a:solidFill>
                  <a:schemeClr val="tx1"/>
                </a:solidFill>
              </a:rPr>
              <a:t>	</a:t>
            </a:r>
            <a:r>
              <a:rPr lang="ru-RU" sz="2400" dirty="0" smtClean="0">
                <a:solidFill>
                  <a:schemeClr val="tx1"/>
                </a:solidFill>
              </a:rPr>
              <a:t>3 </a:t>
            </a:r>
            <a:r>
              <a:rPr lang="ru-RU" sz="2400" dirty="0">
                <a:solidFill>
                  <a:schemeClr val="tx1"/>
                </a:solidFill>
              </a:rPr>
              <a:t>курс, 91 группа, Миа Музамил </a:t>
            </a:r>
            <a:r>
              <a:rPr lang="ru-RU" sz="2400" dirty="0" smtClean="0">
                <a:solidFill>
                  <a:schemeClr val="tx1"/>
                </a:solidFill>
              </a:rPr>
              <a:t>А</a:t>
            </a:r>
            <a:r>
              <a:rPr lang="en-US" sz="2400" dirty="0" smtClean="0">
                <a:solidFill>
                  <a:schemeClr val="tx1"/>
                </a:solidFill>
              </a:rPr>
              <a:t>.</a:t>
            </a:r>
            <a:endParaRPr lang="ru-RU" sz="2400" dirty="0">
              <a:solidFill>
                <a:schemeClr val="tx1"/>
              </a:solidFill>
            </a:endParaRPr>
          </a:p>
          <a:p>
            <a:pPr algn="l"/>
            <a:r>
              <a:rPr lang="ru-RU" sz="2400" dirty="0">
                <a:solidFill>
                  <a:schemeClr val="tx1"/>
                </a:solidFill>
              </a:rPr>
              <a:t>Руководитель		</a:t>
            </a:r>
            <a:r>
              <a:rPr lang="ru-RU" sz="2400" dirty="0" smtClean="0">
                <a:solidFill>
                  <a:schemeClr val="tx1"/>
                </a:solidFill>
              </a:rPr>
              <a:t>доц.</a:t>
            </a:r>
            <a:r>
              <a:rPr lang="ru-RU" sz="2400" dirty="0">
                <a:solidFill>
                  <a:schemeClr val="tx1"/>
                </a:solidFill>
              </a:rPr>
              <a:t> Ефремов М. С.</a:t>
            </a:r>
          </a:p>
          <a:p>
            <a:pPr algn="l"/>
            <a:endParaRPr lang="ru-RU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5506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chemeClr val="accent2">
                <a:alpha val="8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98268" y="1375746"/>
            <a:ext cx="11430000" cy="4549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Молочные предприятия ежедневно работают с большим объёмом данных</a:t>
            </a: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Ручной учёт приводит к ошибкам и задержкам</a:t>
            </a: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Необходима автоматизация процессов: продукция, клиенты, заказы, поставщики</a:t>
            </a: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Информационная система повышает эффективность и снижает риски.</a:t>
            </a:r>
            <a:endParaRPr kumimoji="0" lang="ru-RU" altLang="ru-RU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2</a:t>
            </a:fld>
            <a:endParaRPr lang="ru-RU"/>
          </a:p>
        </p:txBody>
      </p:sp>
      <p:pic>
        <p:nvPicPr>
          <p:cNvPr id="8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268" y="366024"/>
            <a:ext cx="3968932" cy="89664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8182" y="503253"/>
            <a:ext cx="37533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buClr>
                <a:schemeClr val="accent2"/>
              </a:buClr>
            </a:pP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endParaRPr lang="ru-RU" alt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167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92793"/>
            <a:ext cx="5423659" cy="89664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chemeClr val="accent2">
                <a:alpha val="8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81000" y="1038877"/>
            <a:ext cx="1143000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клиенты приходят в филиал за продукцией, создаётся высокая нагрузка на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продавцов.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Продавцы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вынуждены обслуживать всех одновременно, что вызывает неудобства и снижает эффективность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работы.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Отсутствует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предварительных заказов.</a:t>
            </a:r>
          </a:p>
          <a:p>
            <a:pPr algn="just"/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</a:t>
            </a: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оформляет заказ заранее через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систему.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оформлении выбирает филиал, где хочет получить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продукцию.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Филиал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получает заказ заранее и подготавливает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продукцию.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Оплата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производится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 получении, но система предусматривает возможность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добавления онлайн‑транзакций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будущем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3</a:t>
            </a:fld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0" y="351335"/>
            <a:ext cx="50695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Clr>
                <a:schemeClr val="accent2"/>
              </a:buClr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079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chemeClr val="accent2">
                <a:alpha val="8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98268" y="1375746"/>
            <a:ext cx="11430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buClr>
                <a:schemeClr val="tx1"/>
              </a:buClr>
            </a:pP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серверную часть информационной системы для автоматизации процессов молочного предприятия</a:t>
            </a: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alt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3" indent="-45720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</a:t>
            </a: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en-US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828800" lvl="3" indent="-45720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заказов</a:t>
            </a:r>
            <a:r>
              <a:rPr lang="en-US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828800" lvl="3" indent="-45720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сущностями</a:t>
            </a:r>
            <a:r>
              <a:rPr lang="en-US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828800" lvl="3" indent="-45720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обеспечение 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целостности и структуры данных.</a:t>
            </a:r>
            <a:endParaRPr kumimoji="0" lang="ru-RU" altLang="ru-RU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4</a:t>
            </a:fld>
            <a:endParaRPr lang="ru-RU"/>
          </a:p>
        </p:txBody>
      </p:sp>
      <p:pic>
        <p:nvPicPr>
          <p:cNvPr id="8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268" y="378098"/>
            <a:ext cx="3941223" cy="89664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92015" y="503253"/>
            <a:ext cx="37949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Clr>
                <a:schemeClr val="tx1"/>
              </a:buClr>
            </a:pPr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проекта</a:t>
            </a:r>
            <a:endParaRPr lang="ru-RU" alt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880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chemeClr val="accent2">
                <a:alpha val="8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98268" y="1375746"/>
            <a:ext cx="11430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реляционную модель данных</a:t>
            </a: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ER‑диаграмму</a:t>
            </a: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сущности и репозитории</a:t>
            </a: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Построить сервисный слой</a:t>
            </a: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Настроить миграции базы данных</a:t>
            </a: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Написать модульные тесты.</a:t>
            </a:r>
            <a:endParaRPr kumimoji="0" lang="ru-RU" altLang="ru-RU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5</a:t>
            </a:fld>
            <a:endParaRPr lang="ru-RU"/>
          </a:p>
        </p:txBody>
      </p:sp>
      <p:pic>
        <p:nvPicPr>
          <p:cNvPr id="8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268" y="365460"/>
            <a:ext cx="4010496" cy="86597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6253" y="259595"/>
            <a:ext cx="4202511" cy="823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buClr>
                <a:schemeClr val="tx1"/>
              </a:buClr>
            </a:pPr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проекта</a:t>
            </a:r>
            <a:endParaRPr lang="ru-RU" alt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69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975" y="277091"/>
            <a:ext cx="5455805" cy="94210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chemeClr val="accent2">
                <a:alpha val="8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81000" y="1098689"/>
            <a:ext cx="11430000" cy="4832092"/>
          </a:xfrm>
          <a:prstGeom prst="rect">
            <a:avLst/>
          </a:prstGeom>
        </p:spPr>
        <p:txBody>
          <a:bodyPr wrap="square" numCol="1" spcCol="274320">
            <a:spAutoFit/>
          </a:bodyPr>
          <a:lstStyle/>
          <a:p>
            <a:pPr marL="514350" indent="-514350" algn="just">
              <a:buClr>
                <a:schemeClr val="tx1"/>
              </a:buClr>
              <a:buFont typeface="+mj-lt"/>
              <a:buAutoNum type="arabicPeriod"/>
            </a:pP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программирования:</a:t>
            </a:r>
          </a:p>
          <a:p>
            <a:pPr marL="1371600" lvl="2" indent="-4572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(.NET </a:t>
            </a:r>
            <a:r>
              <a:rPr lang="en-US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9)</a:t>
            </a:r>
            <a:endParaRPr lang="ru-RU" altLang="ru-RU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Clr>
                <a:schemeClr val="tx1"/>
              </a:buClr>
              <a:buFont typeface="+mj-lt"/>
              <a:buAutoNum type="arabicPeriod"/>
            </a:pP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Архитектурный подход:</a:t>
            </a:r>
          </a:p>
          <a:p>
            <a:pPr marL="971550" lvl="1" indent="-5143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Разделение 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слои: </a:t>
            </a:r>
            <a:r>
              <a:rPr lang="en-US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Core, </a:t>
            </a:r>
            <a:r>
              <a:rPr lang="en-US" alt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Infrastructure,Services</a:t>
            </a:r>
            <a:r>
              <a:rPr lang="en-US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Web, </a:t>
            </a:r>
            <a:r>
              <a:rPr lang="en-US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Tests</a:t>
            </a:r>
            <a:endParaRPr lang="ru-RU" altLang="ru-RU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Clr>
                <a:schemeClr val="tx1"/>
              </a:buClr>
              <a:buFont typeface="+mj-lt"/>
              <a:buAutoNum type="arabicPeriod"/>
            </a:pP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базой данных:</a:t>
            </a:r>
          </a:p>
          <a:p>
            <a:pPr marL="1428750" lvl="2" indent="-5143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lang="ru-RU" alt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Framework Core 9</a:t>
            </a:r>
            <a:endParaRPr lang="ru-RU" alt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Миграции, </a:t>
            </a:r>
            <a:r>
              <a:rPr lang="en-US" alt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DbContext</a:t>
            </a:r>
            <a:r>
              <a:rPr lang="en-US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Fluent API</a:t>
            </a:r>
          </a:p>
          <a:p>
            <a:pPr marL="514350" indent="-514350" algn="just">
              <a:buClr>
                <a:schemeClr val="tx1"/>
              </a:buClr>
              <a:buAutoNum type="arabicPeriod"/>
            </a:pP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Тестирование:</a:t>
            </a:r>
          </a:p>
          <a:p>
            <a:pPr marL="1428750" lvl="2" indent="-5143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xUnit</a:t>
            </a:r>
            <a:endParaRPr lang="ru-RU" altLang="ru-RU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Moq</a:t>
            </a:r>
            <a:endParaRPr lang="en-US" alt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6</a:t>
            </a:fld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92014" y="261216"/>
            <a:ext cx="554376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buClr>
                <a:schemeClr val="tx1"/>
              </a:buClr>
            </a:pPr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реализации</a:t>
            </a:r>
            <a:endParaRPr lang="ru-RU" alt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795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chemeClr val="accent2">
                <a:alpha val="8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81000" y="1098689"/>
            <a:ext cx="11430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buClr>
                <a:schemeClr val="tx1"/>
              </a:buClr>
            </a:pP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Чистая 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(</a:t>
            </a:r>
            <a:r>
              <a:rPr lang="en-US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Architecture</a:t>
            </a:r>
            <a:r>
              <a:rPr lang="en-US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alt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3" indent="-45720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Dairy.Core</a:t>
            </a:r>
            <a:r>
              <a:rPr lang="en-US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сущности, интерфейсы</a:t>
            </a: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3" indent="-45720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Dairy.Infrastructure</a:t>
            </a:r>
            <a:r>
              <a:rPr lang="en-US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данных, репозитории, миграции</a:t>
            </a: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3" indent="-45720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Dairy.Services</a:t>
            </a:r>
            <a:r>
              <a:rPr lang="en-US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бизнес‑логика, </a:t>
            </a:r>
            <a:r>
              <a:rPr lang="en-US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DTO</a:t>
            </a:r>
            <a:r>
              <a:rPr lang="en-US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3" indent="-45720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Dairy.Web</a:t>
            </a:r>
            <a:r>
              <a:rPr lang="en-US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веб‑слой (при необходимости</a:t>
            </a: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alt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3" indent="-45720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Dairy.Tests</a:t>
            </a:r>
            <a:r>
              <a:rPr lang="en-US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модульные тесты.</a:t>
            </a:r>
            <a:endParaRPr kumimoji="0" lang="ru-RU" altLang="ru-RU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7</a:t>
            </a:fld>
            <a:endParaRPr lang="ru-RU"/>
          </a:p>
        </p:txBody>
      </p:sp>
      <p:pic>
        <p:nvPicPr>
          <p:cNvPr id="8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268" y="341035"/>
            <a:ext cx="4980314" cy="105662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92015" y="261216"/>
            <a:ext cx="4973782" cy="837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buClr>
                <a:schemeClr val="tx1"/>
              </a:buClr>
            </a:pPr>
            <a:r>
              <a:rPr lang="ru-RU" altLang="ru-RU" sz="3600" b="1" dirty="0"/>
              <a:t>Архитектура проекта</a:t>
            </a:r>
            <a:endParaRPr lang="ru-RU" altLang="ru-RU" sz="3600" b="1" dirty="0"/>
          </a:p>
        </p:txBody>
      </p:sp>
    </p:spTree>
    <p:extLst>
      <p:ext uri="{BB962C8B-B14F-4D97-AF65-F5344CB8AC3E}">
        <p14:creationId xmlns:p14="http://schemas.microsoft.com/office/powerpoint/2010/main" val="491688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97" y="110836"/>
            <a:ext cx="10522094" cy="701472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chemeClr val="accent2">
                <a:alpha val="8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2706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chemeClr val="accent2">
                <a:alpha val="8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9</a:t>
            </a:fld>
            <a:endParaRPr lang="ru-RU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29" b="15033"/>
          <a:stretch/>
        </p:blipFill>
        <p:spPr>
          <a:xfrm>
            <a:off x="2475136" y="408708"/>
            <a:ext cx="7241727" cy="616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960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003" y="341035"/>
            <a:ext cx="7081436" cy="404857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chemeClr val="accent2">
                <a:alpha val="8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10</a:t>
            </a:fld>
            <a:endParaRPr lang="ru-RU"/>
          </a:p>
        </p:txBody>
      </p:sp>
      <p:pic>
        <p:nvPicPr>
          <p:cNvPr id="8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8268" y="341035"/>
            <a:ext cx="4093623" cy="84165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92015" y="277091"/>
            <a:ext cx="3908930" cy="823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buClr>
                <a:schemeClr val="tx1"/>
              </a:buClr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ER‑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  <a:endParaRPr lang="ru-RU" alt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003" y="4453557"/>
            <a:ext cx="7081436" cy="209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072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chemeClr val="accent2">
                <a:alpha val="8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98268" y="1215214"/>
            <a:ext cx="11430000" cy="5262979"/>
          </a:xfrm>
          <a:prstGeom prst="rect">
            <a:avLst/>
          </a:prstGeom>
        </p:spPr>
        <p:txBody>
          <a:bodyPr wrap="square" numCol="2">
            <a:spAutoFit/>
          </a:bodyPr>
          <a:lstStyle/>
          <a:p>
            <a:pPr lvl="0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Один‑ко‑многим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→ Product;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→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OrderItem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→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OrderItem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ClientType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Client;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→ Orders;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→ Position;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→ Employee;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→ Employee;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→ Supplier;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CollectionCenter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Equipment;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OrderStatus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Orders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Многие‑ко‑одному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(обратные связи к «один‑ко‑многим»):</a:t>
            </a:r>
          </a:p>
          <a:p>
            <a:pPr lvl="1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→ Category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OrderItem → Product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Один‑к‑одному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→ OrderStatus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Многие‑ко‑многим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системе DairyProduction нет прямых связей многие‑ко‑многим, но теоретически они могли бы быть. </a:t>
            </a:r>
          </a:p>
          <a:p>
            <a:pPr lvl="1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↔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(через промежуточную таблицу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SupplierProduct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11</a:t>
            </a:fld>
            <a:endParaRPr lang="ru-RU" dirty="0"/>
          </a:p>
        </p:txBody>
      </p:sp>
      <p:pic>
        <p:nvPicPr>
          <p:cNvPr id="8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268" y="341035"/>
            <a:ext cx="4980314" cy="77637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9283" y="374897"/>
            <a:ext cx="4973782" cy="742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buClr>
                <a:schemeClr val="tx1"/>
              </a:buClr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сущности</a:t>
            </a:r>
            <a:endParaRPr lang="ru-RU" alt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663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chemeClr val="accent2">
                <a:alpha val="8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81000" y="1310176"/>
            <a:ext cx="11430000" cy="5262979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algn="just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компоненты: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§"/>
            </a:pP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Dairy.Core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содержит сущности 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интерфейсы.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§"/>
            </a:pP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Dairy.Infrastructure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реализует репозитории,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DbContext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миграции.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§"/>
            </a:pP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Dairy.Services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бизнес‑логика,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DTO‑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модели,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сервисы.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§"/>
            </a:pP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Dairy.Tests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модульные тесты для проверки корректности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работы.</a:t>
            </a:r>
          </a:p>
          <a:p>
            <a:pPr algn="just"/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Технологии: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ASP.NET Core;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Entity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Core;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PostgreSQL;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xUnit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Moq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Серверная часть полностью функционирует, миграции успешно применяются, тесты проходят без ошибок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12</a:t>
            </a:fld>
            <a:endParaRPr lang="ru-RU"/>
          </a:p>
        </p:txBody>
      </p:sp>
      <p:pic>
        <p:nvPicPr>
          <p:cNvPr id="8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970" y="324104"/>
            <a:ext cx="6892241" cy="871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243229"/>
            <a:ext cx="7412182" cy="837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buClr>
                <a:schemeClr val="tx1"/>
              </a:buClr>
            </a:pPr>
            <a:r>
              <a:rPr lang="ru-RU" sz="3600" b="1" dirty="0" smtClean="0"/>
              <a:t>Реализация </a:t>
            </a:r>
            <a:r>
              <a:rPr lang="ru-RU" sz="3600" b="1" dirty="0"/>
              <a:t>серверной </a:t>
            </a:r>
            <a:r>
              <a:rPr lang="ru-RU" sz="3600" b="1" dirty="0" smtClean="0"/>
              <a:t>части</a:t>
            </a:r>
            <a:endParaRPr lang="ru-RU" sz="3600" b="1" dirty="0"/>
          </a:p>
        </p:txBody>
      </p:sp>
    </p:spTree>
    <p:extLst>
      <p:ext uri="{BB962C8B-B14F-4D97-AF65-F5344CB8AC3E}">
        <p14:creationId xmlns:p14="http://schemas.microsoft.com/office/powerpoint/2010/main" val="4224379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chemeClr val="accent2">
                <a:alpha val="8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81000" y="1310176"/>
            <a:ext cx="11430000" cy="3349956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Swagger UI: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Все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контроллеры и методы отображаются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корректно.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CRUD‑операции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выполняются без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ошибок.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Тестовые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успешно сохраняются в базе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PostgreSQL.</a:t>
            </a:r>
          </a:p>
          <a:p>
            <a:pPr>
              <a:lnSpc>
                <a:spcPct val="150000"/>
              </a:lnSpc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готова к интеграции с веб‑интерфейсом.</a:t>
            </a:r>
          </a:p>
          <a:p>
            <a:pPr algn="just">
              <a:lnSpc>
                <a:spcPct val="150000"/>
              </a:lnSpc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13</a:t>
            </a:fld>
            <a:endParaRPr lang="ru-RU"/>
          </a:p>
        </p:txBody>
      </p:sp>
      <p:pic>
        <p:nvPicPr>
          <p:cNvPr id="8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971" y="324104"/>
            <a:ext cx="6237812" cy="871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92015" y="272109"/>
            <a:ext cx="649778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buClr>
                <a:schemeClr val="tx1"/>
              </a:buClr>
            </a:pPr>
            <a:r>
              <a:rPr lang="ru-RU" sz="3600" b="1" dirty="0" smtClean="0"/>
              <a:t>Проверка </a:t>
            </a:r>
            <a:r>
              <a:rPr lang="ru-RU" sz="3600" b="1" dirty="0"/>
              <a:t>работы </a:t>
            </a:r>
            <a:r>
              <a:rPr lang="ru-RU" sz="3600" b="1" dirty="0" smtClean="0"/>
              <a:t>проекта</a:t>
            </a:r>
            <a:endParaRPr lang="ru-RU" sz="3600" b="1" dirty="0"/>
          </a:p>
        </p:txBody>
      </p:sp>
    </p:spTree>
    <p:extLst>
      <p:ext uri="{BB962C8B-B14F-4D97-AF65-F5344CB8AC3E}">
        <p14:creationId xmlns:p14="http://schemas.microsoft.com/office/powerpoint/2010/main" val="1465858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chemeClr val="accent2">
                <a:alpha val="8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14</a:t>
            </a:fld>
            <a:endParaRPr lang="ru-RU"/>
          </a:p>
        </p:txBody>
      </p:sp>
      <p:pic>
        <p:nvPicPr>
          <p:cNvPr id="8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268" y="341035"/>
            <a:ext cx="3082241" cy="105662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9283" y="374897"/>
            <a:ext cx="4973782" cy="823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buClr>
                <a:schemeClr val="tx1"/>
              </a:buClr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Swagger</a:t>
            </a:r>
            <a:endParaRPr lang="ru-RU" alt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09" y="1495465"/>
            <a:ext cx="11374582" cy="421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318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chemeClr val="accent2">
                <a:alpha val="8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15</a:t>
            </a:fld>
            <a:endParaRPr lang="ru-RU"/>
          </a:p>
        </p:txBody>
      </p:sp>
      <p:pic>
        <p:nvPicPr>
          <p:cNvPr id="8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268" y="341035"/>
            <a:ext cx="3082241" cy="105662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9283" y="374897"/>
            <a:ext cx="4973782" cy="823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buClr>
                <a:schemeClr val="tx1"/>
              </a:buClr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Swagger</a:t>
            </a:r>
            <a:endParaRPr lang="ru-RU" alt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91" y="1397659"/>
            <a:ext cx="11561618" cy="482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087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chemeClr val="accent2">
                <a:alpha val="8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81000" y="1310176"/>
            <a:ext cx="11430000" cy="3246530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marL="914400" lvl="1" indent="-457200"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Создана 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структурированная серверная </a:t>
            </a: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часть.</a:t>
            </a:r>
            <a:endParaRPr lang="en-US" altLang="ru-RU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реляционная модель </a:t>
            </a: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данных.</a:t>
            </a:r>
            <a:endParaRPr lang="en-US" altLang="ru-RU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Настроены 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миграции и </a:t>
            </a: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репозитории.</a:t>
            </a:r>
            <a:endParaRPr lang="en-US" altLang="ru-RU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Написаны 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модульные </a:t>
            </a: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тесты.</a:t>
            </a:r>
            <a:endParaRPr lang="en-US" altLang="ru-RU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готова к расширению (веб‑интерфейс, отчёты, аналитика).</a:t>
            </a:r>
            <a:endParaRPr kumimoji="0" lang="ru-RU" altLang="ru-RU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16</a:t>
            </a:fld>
            <a:endParaRPr lang="ru-RU"/>
          </a:p>
        </p:txBody>
      </p:sp>
      <p:pic>
        <p:nvPicPr>
          <p:cNvPr id="8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268" y="341035"/>
            <a:ext cx="4980314" cy="871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243229"/>
            <a:ext cx="4973782" cy="837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buClr>
                <a:schemeClr val="tx1"/>
              </a:buClr>
            </a:pPr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работы</a:t>
            </a:r>
            <a:endParaRPr lang="ru-RU" alt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28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chemeClr val="accent2">
                <a:alpha val="8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3455" y="1397659"/>
            <a:ext cx="10931236" cy="2600199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lvl="1" algn="just">
              <a:lnSpc>
                <a:spcPct val="150000"/>
              </a:lnSpc>
              <a:buClr>
                <a:schemeClr val="tx1"/>
              </a:buClr>
            </a:pP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Разработанная 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DairyProduction автоматизирует ключевые процессы молочного предприятия, обеспечивает структурированное хранение данных, надёжную бизнес‑логику и возможность дальнейшего развития. </a:t>
            </a:r>
            <a:endParaRPr kumimoji="0" lang="ru-RU" altLang="ru-RU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17</a:t>
            </a:fld>
            <a:endParaRPr lang="ru-RU"/>
          </a:p>
        </p:txBody>
      </p:sp>
      <p:pic>
        <p:nvPicPr>
          <p:cNvPr id="8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268" y="341035"/>
            <a:ext cx="3387041" cy="871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92015" y="261216"/>
            <a:ext cx="414406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buClr>
                <a:schemeClr val="tx1"/>
              </a:buClr>
            </a:pPr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alt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219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39" y="2991262"/>
            <a:ext cx="3820315" cy="373021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92015" y="214746"/>
            <a:ext cx="11807970" cy="6428509"/>
          </a:xfrm>
          <a:prstGeom prst="rect">
            <a:avLst/>
          </a:prstGeom>
          <a:noFill/>
          <a:ln w="88900">
            <a:solidFill>
              <a:schemeClr val="accent2">
                <a:alpha val="8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solidFill>
                <a:schemeClr val="bg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6389" y="1681140"/>
            <a:ext cx="10739222" cy="15696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4800" b="1" dirty="0">
                <a:solidFill>
                  <a:srgbClr val="002060"/>
                </a:solidFill>
              </a:rPr>
              <a:t>Р</a:t>
            </a:r>
            <a:r>
              <a:rPr lang="ru-RU" sz="4800" b="1" dirty="0" smtClean="0">
                <a:solidFill>
                  <a:srgbClr val="002060"/>
                </a:solidFill>
              </a:rPr>
              <a:t>еализация веб- приложение для</a:t>
            </a:r>
          </a:p>
          <a:p>
            <a:pPr algn="ctr"/>
            <a:r>
              <a:rPr lang="ru-RU" sz="4800" b="1" dirty="0" smtClean="0">
                <a:solidFill>
                  <a:srgbClr val="002060"/>
                </a:solidFill>
              </a:rPr>
              <a:t>молочной компании</a:t>
            </a:r>
            <a:r>
              <a:rPr lang="en-US" sz="4800" b="1" dirty="0" smtClean="0">
                <a:solidFill>
                  <a:srgbClr val="002060"/>
                </a:solidFill>
              </a:rPr>
              <a:t> </a:t>
            </a:r>
            <a:r>
              <a:rPr lang="en-US" sz="4800" b="1" dirty="0">
                <a:solidFill>
                  <a:srgbClr val="002060"/>
                </a:solidFill>
              </a:rPr>
              <a:t>“Dairy Production</a:t>
            </a:r>
            <a:r>
              <a:rPr lang="en-US" sz="4800" b="1" dirty="0" smtClean="0">
                <a:solidFill>
                  <a:srgbClr val="002060"/>
                </a:solidFill>
              </a:rPr>
              <a:t>”</a:t>
            </a:r>
            <a:endParaRPr lang="ru-RU" sz="4800" b="1" dirty="0">
              <a:solidFill>
                <a:srgbClr val="00206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18</a:t>
            </a:fld>
            <a:endParaRPr lang="ru-RU" dirty="0"/>
          </a:p>
        </p:txBody>
      </p:sp>
      <p:sp>
        <p:nvSpPr>
          <p:cNvPr id="6" name="Подзаголовок 2"/>
          <p:cNvSpPr>
            <a:spLocks noGrp="1"/>
          </p:cNvSpPr>
          <p:nvPr/>
        </p:nvSpPr>
        <p:spPr>
          <a:xfrm>
            <a:off x="4546704" y="4645314"/>
            <a:ext cx="7453281" cy="17110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dirty="0" smtClean="0">
                <a:solidFill>
                  <a:schemeClr val="tx1"/>
                </a:solidFill>
              </a:rPr>
              <a:t>Зав. кафедрой 	к. ф.-м. н., доц. Барановский Е. С.</a:t>
            </a:r>
          </a:p>
          <a:p>
            <a:pPr algn="l"/>
            <a:r>
              <a:rPr lang="ru-RU" sz="2400" dirty="0" smtClean="0">
                <a:solidFill>
                  <a:schemeClr val="tx1"/>
                </a:solidFill>
              </a:rPr>
              <a:t>Обучающийся</a:t>
            </a:r>
            <a:r>
              <a:rPr lang="ru-RU" sz="2400" dirty="0">
                <a:solidFill>
                  <a:schemeClr val="tx1"/>
                </a:solidFill>
              </a:rPr>
              <a:t>	</a:t>
            </a:r>
            <a:r>
              <a:rPr lang="ru-RU" sz="2400" dirty="0" smtClean="0">
                <a:solidFill>
                  <a:schemeClr val="tx1"/>
                </a:solidFill>
              </a:rPr>
              <a:t>3 </a:t>
            </a:r>
            <a:r>
              <a:rPr lang="ru-RU" sz="2400" dirty="0">
                <a:solidFill>
                  <a:schemeClr val="tx1"/>
                </a:solidFill>
              </a:rPr>
              <a:t>курс, 91 группа, Миа Музамил </a:t>
            </a:r>
            <a:r>
              <a:rPr lang="ru-RU" sz="2400" dirty="0" smtClean="0">
                <a:solidFill>
                  <a:schemeClr val="tx1"/>
                </a:solidFill>
              </a:rPr>
              <a:t>А</a:t>
            </a:r>
            <a:r>
              <a:rPr lang="en-US" sz="2400" dirty="0" smtClean="0">
                <a:solidFill>
                  <a:schemeClr val="tx1"/>
                </a:solidFill>
              </a:rPr>
              <a:t>.</a:t>
            </a:r>
            <a:endParaRPr lang="ru-RU" sz="2400" dirty="0">
              <a:solidFill>
                <a:schemeClr val="tx1"/>
              </a:solidFill>
            </a:endParaRPr>
          </a:p>
          <a:p>
            <a:pPr algn="l"/>
            <a:r>
              <a:rPr lang="ru-RU" sz="2400" dirty="0">
                <a:solidFill>
                  <a:schemeClr val="tx1"/>
                </a:solidFill>
              </a:rPr>
              <a:t>Руководитель		</a:t>
            </a:r>
            <a:r>
              <a:rPr lang="ru-RU" sz="2400" dirty="0" smtClean="0">
                <a:solidFill>
                  <a:schemeClr val="tx1"/>
                </a:solidFill>
              </a:rPr>
              <a:t>доц.</a:t>
            </a:r>
            <a:r>
              <a:rPr lang="ru-RU" sz="2400" dirty="0">
                <a:solidFill>
                  <a:schemeClr val="tx1"/>
                </a:solidFill>
              </a:rPr>
              <a:t> Ефремов М. С.</a:t>
            </a:r>
          </a:p>
          <a:p>
            <a:pPr algn="l"/>
            <a:endParaRPr lang="ru-RU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125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92015" y="277091"/>
            <a:ext cx="11807970" cy="6428509"/>
          </a:xfrm>
          <a:prstGeom prst="rect">
            <a:avLst/>
          </a:prstGeom>
          <a:noFill/>
          <a:ln w="88900">
            <a:solidFill>
              <a:srgbClr val="FF9933">
                <a:alpha val="8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oogle Shape;2281;p63"/>
          <p:cNvSpPr txBox="1">
            <a:spLocks/>
          </p:cNvSpPr>
          <p:nvPr/>
        </p:nvSpPr>
        <p:spPr>
          <a:xfrm>
            <a:off x="3303219" y="2493109"/>
            <a:ext cx="558556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ru-RU" sz="8000" b="1" dirty="0" smtClean="0">
                <a:solidFill>
                  <a:schemeClr val="accent2"/>
                </a:solidFill>
                <a:latin typeface="Arial Nova Cond" panose="020B0506020202020204" pitchFamily="34" charset="0"/>
              </a:rPr>
              <a:t>СПАСИБО!</a:t>
            </a:r>
            <a:endParaRPr lang="en-US" sz="8000" b="1" dirty="0">
              <a:solidFill>
                <a:schemeClr val="accent2"/>
              </a:solidFill>
              <a:latin typeface="Arial Nova Cond" panose="020B0506020202020204" pitchFamily="34" charset="0"/>
            </a:endParaRPr>
          </a:p>
        </p:txBody>
      </p:sp>
      <p:sp>
        <p:nvSpPr>
          <p:cNvPr id="10" name="Google Shape;2282;p63"/>
          <p:cNvSpPr txBox="1">
            <a:spLocks/>
          </p:cNvSpPr>
          <p:nvPr/>
        </p:nvSpPr>
        <p:spPr>
          <a:xfrm>
            <a:off x="1829269" y="3551809"/>
            <a:ext cx="8533461" cy="244819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ru-RU" sz="4800" b="1" dirty="0" smtClean="0">
                <a:solidFill>
                  <a:schemeClr val="accent2">
                    <a:lumMod val="50000"/>
                  </a:schemeClr>
                </a:solidFill>
              </a:rPr>
              <a:t>ЕСТЬ ВОПРОСЫ?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CA71-AF1C-4B92-B0D4-ABCD66AE964E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313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989</TotalTime>
  <Words>651</Words>
  <Application>Microsoft Office PowerPoint</Application>
  <PresentationFormat>Widescreen</PresentationFormat>
  <Paragraphs>132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Nova Cond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Muzamil Mia</dc:creator>
  <cp:lastModifiedBy>Muzamil Mia</cp:lastModifiedBy>
  <cp:revision>67</cp:revision>
  <dcterms:created xsi:type="dcterms:W3CDTF">2026-02-12T20:21:31Z</dcterms:created>
  <dcterms:modified xsi:type="dcterms:W3CDTF">2026-07-03T18:08:16Z</dcterms:modified>
  <cp:contentStatus/>
</cp:coreProperties>
</file>