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260" r:id="rId4"/>
    <p:sldId id="261" r:id="rId5"/>
    <p:sldId id="262" r:id="rId6"/>
    <p:sldId id="271" r:id="rId7"/>
    <p:sldId id="263" r:id="rId8"/>
    <p:sldId id="272" r:id="rId9"/>
    <p:sldId id="267" r:id="rId10"/>
    <p:sldId id="273" r:id="rId11"/>
    <p:sldId id="274" r:id="rId12"/>
    <p:sldId id="275" r:id="rId13"/>
    <p:sldId id="276" r:id="rId14"/>
    <p:sldId id="279" r:id="rId15"/>
    <p:sldId id="277" r:id="rId16"/>
    <p:sldId id="278" r:id="rId17"/>
    <p:sldId id="264" r:id="rId18"/>
    <p:sldId id="280" r:id="rId19"/>
    <p:sldId id="281" r:id="rId20"/>
    <p:sldId id="282" r:id="rId21"/>
    <p:sldId id="283" r:id="rId22"/>
    <p:sldId id="284" r:id="rId23"/>
    <p:sldId id="285" r:id="rId24"/>
    <p:sldId id="286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058" autoAdjust="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78C17-4EAC-4B13-9D35-F5BB4F19E5E6}" type="datetimeFigureOut">
              <a:rPr lang="ru-RU" smtClean="0"/>
              <a:t>04.07.2025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B8A8C-2FC0-4701-B71B-F63C122C0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379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6AB8-1234-40B3-BB17-276AB988206E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2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6F84-9294-4321-B4AC-E3CBA8E25DC9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74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32A79-BBAD-425C-9D5F-BA0349FCAB4C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21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60A93-58E9-4ED0-BF74-1CA6D8AAD757}" type="datetime1">
              <a:rPr lang="ru-RU" smtClean="0"/>
              <a:t>04.07.2025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47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950B-5932-4067-97D8-9A0FD744C069}" type="datetime1">
              <a:rPr lang="ru-RU" smtClean="0"/>
              <a:t>04.07.2025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06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9028-8DB9-404C-8B0C-C0C91C8212C7}" type="datetime1">
              <a:rPr lang="ru-RU" smtClean="0"/>
              <a:t>04.07.2025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33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74B6-B657-4755-BCFD-474D03EB0DD4}" type="datetime1">
              <a:rPr lang="ru-RU" smtClean="0"/>
              <a:t>04.07.2025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83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D18D0-7DA1-4BA9-B3EB-A7D54196D51C}" type="datetime1">
              <a:rPr lang="ru-RU" smtClean="0"/>
              <a:t>04.07.2025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42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7F3D-EBCB-4466-B1E4-3D5DD0066026}" type="datetime1">
              <a:rPr lang="ru-RU" smtClean="0"/>
              <a:t>04.07.2025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40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0009-93C3-4442-BE5C-4739C5079E93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72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E21F2-2D10-4835-A07C-B12F857EEE94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26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27A49-8785-4607-8F19-D738A6B536D1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64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50936" y="848872"/>
            <a:ext cx="10811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dirty="0"/>
              <a:t>Бинарные деревья. Бинарные деревья поиска (цепочное и сплошное представление) </a:t>
            </a:r>
            <a:endParaRPr lang="ru-RU" sz="5400" b="1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60195" y="4483067"/>
            <a:ext cx="1070216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/>
              <a:t>Зав. кафедрой 		к. ф.-м. н., доц. Барановский Е. С.</a:t>
            </a:r>
          </a:p>
          <a:p>
            <a:r>
              <a:rPr lang="ru-RU" sz="3200" dirty="0"/>
              <a:t>Обучающийся		2 курс, 91 группа, Миа Музамил Ахмад</a:t>
            </a:r>
          </a:p>
          <a:p>
            <a:r>
              <a:rPr lang="ru-RU" sz="3200" dirty="0"/>
              <a:t>Руководитель		д. ф.-м. н., проф. Артёмов М. А.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13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89712" y="293481"/>
            <a:ext cx="26125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000" b="1" dirty="0" smtClean="0"/>
              <a:t>Аннотация</a:t>
            </a:r>
            <a:endParaRPr lang="ru-RU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539337" y="1389811"/>
            <a:ext cx="111133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Цель </a:t>
            </a:r>
            <a:r>
              <a:rPr lang="ru-RU" altLang="ru-RU" sz="3200" dirty="0"/>
              <a:t>работы</a:t>
            </a:r>
            <a:r>
              <a:rPr lang="ru-RU" altLang="ru-RU" sz="3200" dirty="0" smtClean="0"/>
              <a:t>:</a:t>
            </a:r>
            <a:endParaRPr lang="en-US" altLang="ru-RU" sz="3200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/>
              <a:t>Исследование BST и их представлений (цепочное и сплошное</a:t>
            </a:r>
            <a:r>
              <a:rPr lang="ru-RU" altLang="ru-RU" sz="3200" dirty="0" smtClean="0"/>
              <a:t>).</a:t>
            </a:r>
            <a:endParaRPr lang="en-US" altLang="ru-RU" sz="3200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/>
              <a:t>Реализация операций (вставка, удаление, поиск) на C</a:t>
            </a:r>
            <a:r>
              <a:rPr lang="ru-RU" altLang="ru-RU" sz="3200" dirty="0" smtClean="0"/>
              <a:t>++.</a:t>
            </a:r>
            <a:endParaRPr lang="ru-RU" altLang="ru-RU" sz="3200" dirty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/>
              <a:t>Сравнение эффективности представлений</a:t>
            </a:r>
            <a:r>
              <a:rPr lang="ru-RU" altLang="ru-RU" sz="3200" dirty="0" smtClean="0"/>
              <a:t>.</a:t>
            </a:r>
            <a:endParaRPr lang="en-US" altLang="ru-RU" sz="3200" dirty="0" smtClean="0"/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Методы:</a:t>
            </a:r>
            <a:endParaRPr lang="en-US" altLang="ru-RU" sz="3200" dirty="0"/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Рекурсия</a:t>
            </a:r>
            <a:r>
              <a:rPr lang="ru-RU" altLang="ru-RU" sz="3200" dirty="0"/>
              <a:t>, стек, </a:t>
            </a:r>
            <a:r>
              <a:rPr lang="ru-RU" altLang="ru-RU" sz="3200" dirty="0" smtClean="0"/>
              <a:t>очередь.</a:t>
            </a:r>
            <a:endParaRPr lang="en-US" altLang="ru-RU" sz="3200" dirty="0" smtClean="0"/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Тестирование </a:t>
            </a:r>
            <a:r>
              <a:rPr lang="ru-RU" altLang="ru-RU" sz="3200" dirty="0"/>
              <a:t>на различных входных данных.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9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6680" y="1523419"/>
            <a:ext cx="111786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Ключевые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тезисы: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Бинарные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деревья — фундаментальная структура данных в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информатике.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BST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обеспечивают эффективные операции благодаря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упорядоченности.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Цель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Исследовать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два представления BST (цепочное и сплошное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Реализовать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базовые операции на C++.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47650" y="401234"/>
            <a:ext cx="26967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/>
              <a:t>Введение</a:t>
            </a:r>
            <a:r>
              <a:rPr lang="en-US" sz="4400" b="1" dirty="0" smtClean="0"/>
              <a:t> </a:t>
            </a:r>
            <a:endParaRPr lang="en-US" sz="4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7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01250" y="559665"/>
            <a:ext cx="49913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/>
              <a:t> Постановка </a:t>
            </a:r>
            <a:r>
              <a:rPr lang="ru-RU" sz="4400" b="1" dirty="0" smtClean="0"/>
              <a:t>задачи</a:t>
            </a:r>
            <a:endParaRPr lang="ru-RU" sz="4400" b="1" dirty="0"/>
          </a:p>
        </p:txBody>
      </p:sp>
      <p:sp>
        <p:nvSpPr>
          <p:cNvPr id="4" name="Rectangle 3"/>
          <p:cNvSpPr/>
          <p:nvPr/>
        </p:nvSpPr>
        <p:spPr>
          <a:xfrm>
            <a:off x="449528" y="1620343"/>
            <a:ext cx="1089474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Исследовать BST и их свойства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Реализовать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600200" lvl="2" indent="-6858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Вставку, удаление, поиск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Подсчёт чётных чисел и глубины дерева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Сравнить цепочное и сплошное представления.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50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448351" y="339056"/>
            <a:ext cx="52952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 </a:t>
            </a:r>
            <a:r>
              <a:rPr lang="ru-RU" sz="4400" b="1" dirty="0" smtClean="0"/>
              <a:t>Теоретическая </a:t>
            </a:r>
            <a:r>
              <a:rPr lang="ru-RU" sz="4400" b="1" dirty="0"/>
              <a:t>часть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627" y="1715598"/>
            <a:ext cx="1089474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Дерево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— Это абстрактный тип данных для хранения информационных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элементов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имеющих нелинейное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отношение.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дерево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это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связный ациклический граф, где: 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Есть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корневой узел. 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Каждый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узел (кроме корня) имеет ровно одного родителя. 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Узлы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могут иметь потомков.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00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766" y="1333338"/>
            <a:ext cx="108947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обхода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дерева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Симметричный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In-order) </a:t>
            </a:r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Прямой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Pre-order)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или префиксный</a:t>
            </a:r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Обратный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(постфиксный) или  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Post-order</a:t>
            </a:r>
          </a:p>
          <a:p>
            <a:pPr lvl="1" algn="just">
              <a:buClr>
                <a:schemeClr val="accent2"/>
              </a:buClr>
            </a:pP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6" y="3721003"/>
            <a:ext cx="4036695" cy="2422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86687" y="6055280"/>
            <a:ext cx="17536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In-order обход</a:t>
            </a:r>
            <a:endParaRPr lang="ru-RU" sz="2000" b="1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64" y="3721004"/>
            <a:ext cx="3816148" cy="24226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241" y="6086058"/>
            <a:ext cx="12029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Pre-order</a:t>
            </a:r>
            <a:endParaRPr lang="ru-RU" sz="2000" b="1" dirty="0"/>
          </a:p>
        </p:txBody>
      </p:sp>
      <p:pic>
        <p:nvPicPr>
          <p:cNvPr id="10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612" y="3721003"/>
            <a:ext cx="3301078" cy="23342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39642" y="6086058"/>
            <a:ext cx="1363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Post-order </a:t>
            </a:r>
            <a:endParaRPr lang="ru-RU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3250490" y="252131"/>
            <a:ext cx="52952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 </a:t>
            </a:r>
            <a:r>
              <a:rPr lang="ru-RU" sz="4400" b="1" dirty="0" smtClean="0"/>
              <a:t>Теоретическая часть</a:t>
            </a:r>
            <a:endParaRPr lang="ru-RU" sz="4400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0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87234" y="329683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Бинарные деревья поиска</a:t>
            </a:r>
            <a:endParaRPr lang="ru-RU" sz="4400" dirty="0"/>
          </a:p>
        </p:txBody>
      </p:sp>
      <p:sp>
        <p:nvSpPr>
          <p:cNvPr id="6" name="Rectangle 5"/>
          <p:cNvSpPr/>
          <p:nvPr/>
        </p:nvSpPr>
        <p:spPr>
          <a:xfrm>
            <a:off x="416727" y="1556312"/>
            <a:ext cx="112316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Дерево поиска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(BST) —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это бинарное дерево, в котором для каждого узла выполняются следующие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Ключи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всех узлов в левом поддереве меньше ключа текущего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узла.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Ключи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всех узлов в правом поддереве больше ключа текущего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узла.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Левое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 правое поддеревья также являются бинарными деревьями поиска.</a:t>
            </a:r>
            <a:endParaRPr kumimoji="0" lang="en-US" altLang="ru-RU" sz="32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9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50692" y="315396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Бинарные деревья поиска</a:t>
            </a:r>
            <a:endParaRPr lang="ru-RU" sz="4400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32" y="1556312"/>
            <a:ext cx="11523735" cy="40268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63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30684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Вставка (Insertion)</a:t>
            </a:r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sz="3200" i="1" dirty="0" smtClean="0"/>
              <a:t>Алгоритм: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Если </a:t>
            </a:r>
            <a:r>
              <a:rPr lang="ru-RU" sz="3200" i="1" dirty="0"/>
              <a:t>дерево пустое, создаём новый узел и делаем его </a:t>
            </a:r>
            <a:r>
              <a:rPr lang="ru-RU" sz="3200" i="1" dirty="0" smtClean="0"/>
              <a:t>корнем.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Иначе </a:t>
            </a:r>
            <a:r>
              <a:rPr lang="ru-RU" sz="3200" i="1" dirty="0"/>
              <a:t>сравниваем ключ с текущим узлом: </a:t>
            </a:r>
            <a:endParaRPr lang="en-US" sz="3200" i="1" dirty="0" smtClean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ключ меньше, переходим в левое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ключ больше, переходим в правое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Повторяем</a:t>
            </a:r>
            <a:r>
              <a:rPr lang="ru-RU" sz="3200" i="1" dirty="0"/>
              <a:t>, пока не найдём пустое место (NULL), куда вставляем новый узел</a:t>
            </a:r>
            <a:r>
              <a:rPr lang="ru-RU" sz="3200" i="1" dirty="0" smtClean="0"/>
              <a:t>.</a:t>
            </a:r>
            <a:endParaRPr lang="ru-RU" sz="32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43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30684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Поиск </a:t>
            </a:r>
            <a:r>
              <a:rPr lang="ru-RU" sz="3600" b="1" i="1" dirty="0" smtClean="0"/>
              <a:t>(</a:t>
            </a:r>
            <a:r>
              <a:rPr lang="en-US" sz="3600" b="1" i="1" dirty="0" smtClean="0"/>
              <a:t>Search</a:t>
            </a:r>
            <a:r>
              <a:rPr lang="ru-RU" sz="3600" b="1" i="1" dirty="0" smtClean="0"/>
              <a:t>)</a:t>
            </a:r>
            <a:endParaRPr lang="ru-RU" sz="3600" b="1" i="1" dirty="0"/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sz="3200" i="1" dirty="0" smtClean="0"/>
              <a:t>Алгоритм: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/>
              <a:t>Начинаем с </a:t>
            </a:r>
            <a:r>
              <a:rPr lang="ru-RU" sz="3200" i="1" dirty="0" smtClean="0"/>
              <a:t>корня.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Сравниваем </a:t>
            </a:r>
            <a:r>
              <a:rPr lang="ru-RU" sz="3200" i="1" dirty="0"/>
              <a:t>искомый ключ с текущим узлом: </a:t>
            </a:r>
            <a:endParaRPr lang="en-US" sz="3200" i="1" dirty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ключи равны, узел </a:t>
            </a:r>
            <a:r>
              <a:rPr lang="ru-RU" sz="3200" i="1" dirty="0" smtClean="0"/>
              <a:t>найден.</a:t>
            </a:r>
            <a:endParaRPr lang="en-US" sz="3200" i="1" dirty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искомый ключ меньше, идём в левое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искомый ключ больше, идём в правое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Если </a:t>
            </a:r>
            <a:r>
              <a:rPr lang="ru-RU" sz="3200" i="1" dirty="0"/>
              <a:t>доходим до NULL, ключ отсутствует</a:t>
            </a:r>
            <a:r>
              <a:rPr lang="ru-RU" sz="3200" i="1" dirty="0" smtClean="0"/>
              <a:t>.</a:t>
            </a:r>
            <a:endParaRPr lang="ru-RU" sz="32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92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24395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Удаление (</a:t>
            </a:r>
            <a:r>
              <a:rPr lang="en-US" sz="3600" b="1" i="1" dirty="0"/>
              <a:t>Deletion</a:t>
            </a:r>
            <a:r>
              <a:rPr lang="en-US" sz="3600" b="1" i="1" dirty="0" smtClean="0"/>
              <a:t>)</a:t>
            </a:r>
          </a:p>
          <a:p>
            <a:pPr lvl="1" algn="just">
              <a:lnSpc>
                <a:spcPct val="150000"/>
              </a:lnSpc>
              <a:buClr>
                <a:schemeClr val="accent2"/>
              </a:buClr>
            </a:pPr>
            <a:r>
              <a:rPr lang="ru-RU" sz="2800" dirty="0"/>
              <a:t>Удаление узла из BST сложнее, так как необходимо сохранить свойства дерева. Существует три </a:t>
            </a:r>
            <a:r>
              <a:rPr lang="ru-RU" sz="2800" dirty="0" smtClean="0"/>
              <a:t>случая:</a:t>
            </a:r>
            <a:endParaRPr lang="en-US" sz="2800" dirty="0" smtClean="0"/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800" dirty="0" smtClean="0"/>
              <a:t>Удаляемый </a:t>
            </a:r>
            <a:r>
              <a:rPr lang="ru-RU" sz="2800" dirty="0"/>
              <a:t>узел — лист (нет потомков</a:t>
            </a:r>
            <a:r>
              <a:rPr lang="ru-RU" sz="2800" dirty="0" smtClean="0"/>
              <a:t>).</a:t>
            </a:r>
            <a:endParaRPr lang="en-US" sz="2800" dirty="0" smtClean="0"/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800" dirty="0" smtClean="0"/>
              <a:t>Удаляемый </a:t>
            </a:r>
            <a:r>
              <a:rPr lang="ru-RU" sz="2800" dirty="0"/>
              <a:t>узел имеет одного </a:t>
            </a:r>
            <a:r>
              <a:rPr lang="ru-RU" sz="2800" dirty="0" smtClean="0"/>
              <a:t>потомка.</a:t>
            </a:r>
            <a:endParaRPr lang="en-US" sz="2800" dirty="0" smtClean="0"/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800" dirty="0" smtClean="0"/>
              <a:t>Удаляемый </a:t>
            </a:r>
            <a:r>
              <a:rPr lang="ru-RU" sz="2800" dirty="0"/>
              <a:t>узел имеет двух потомков</a:t>
            </a:r>
            <a:r>
              <a:rPr lang="ru-RU" sz="2800" dirty="0" smtClean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78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329683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Удаление (</a:t>
            </a:r>
            <a:r>
              <a:rPr lang="en-US" sz="3600" b="1" i="1" dirty="0"/>
              <a:t>Deletion</a:t>
            </a:r>
            <a:r>
              <a:rPr lang="en-US" sz="3600" b="1" i="1" dirty="0" smtClean="0"/>
              <a:t>)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Алгоритм:</a:t>
            </a:r>
            <a:endParaRPr lang="en-US" sz="2800" dirty="0" smtClean="0"/>
          </a:p>
          <a:p>
            <a:pPr marL="1371600" lvl="2" indent="-457200" algn="just">
              <a:buFont typeface="Wingdings" panose="05000000000000000000" pitchFamily="2" charset="2"/>
              <a:buChar char="Ø"/>
            </a:pPr>
            <a:r>
              <a:rPr lang="ru-RU" sz="2800" dirty="0" smtClean="0"/>
              <a:t>Найти </a:t>
            </a:r>
            <a:r>
              <a:rPr lang="ru-RU" sz="2800" dirty="0"/>
              <a:t>узел для удаления (аналогично поиску</a:t>
            </a:r>
            <a:r>
              <a:rPr lang="ru-RU" sz="2800" dirty="0" smtClean="0"/>
              <a:t>).</a:t>
            </a:r>
            <a:endParaRPr lang="en-US" sz="2800" dirty="0" smtClean="0"/>
          </a:p>
          <a:p>
            <a:pPr marL="1371600" lvl="2" indent="-457200" algn="just">
              <a:buFont typeface="Wingdings" panose="05000000000000000000" pitchFamily="2" charset="2"/>
              <a:buChar char="Ø"/>
            </a:pPr>
            <a:r>
              <a:rPr lang="ru-RU" sz="2800" dirty="0" smtClean="0"/>
              <a:t>Обработать </a:t>
            </a:r>
            <a:r>
              <a:rPr lang="ru-RU" sz="2800" dirty="0"/>
              <a:t>три случая: </a:t>
            </a:r>
            <a:endParaRPr lang="en-US" sz="2800" dirty="0" smtClean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Лист</a:t>
            </a:r>
            <a:r>
              <a:rPr lang="ru-RU" sz="2800" dirty="0"/>
              <a:t>: Просто удаляем </a:t>
            </a:r>
            <a:r>
              <a:rPr lang="ru-RU" sz="2800" dirty="0" smtClean="0"/>
              <a:t>узел.</a:t>
            </a:r>
            <a:endParaRPr lang="en-US" sz="2800" dirty="0" smtClean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Один </a:t>
            </a:r>
            <a:r>
              <a:rPr lang="ru-RU" sz="2800" b="1" dirty="0"/>
              <a:t>потомок: </a:t>
            </a:r>
            <a:r>
              <a:rPr lang="ru-RU" sz="2800" dirty="0"/>
              <a:t>Заменяем узел его </a:t>
            </a:r>
            <a:r>
              <a:rPr lang="ru-RU" sz="2800" dirty="0" smtClean="0"/>
              <a:t>потомком.</a:t>
            </a:r>
            <a:endParaRPr lang="en-US" sz="2800" dirty="0" smtClean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Два </a:t>
            </a:r>
            <a:r>
              <a:rPr lang="ru-RU" sz="2800" b="1" dirty="0"/>
              <a:t>потомка: </a:t>
            </a:r>
            <a:r>
              <a:rPr lang="ru-RU" sz="2800" dirty="0"/>
              <a:t>Находим минимальный ключ в правом поддереве (или максимальный в левом), заменяем ключ удаляемого узла этим значением, затем удаляем найденный узел (он будет листом или иметь одного потока) </a:t>
            </a:r>
            <a:endParaRPr lang="ru-RU" sz="28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10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81" y="1026233"/>
            <a:ext cx="6767002" cy="4930223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624" y="1960545"/>
            <a:ext cx="6398650" cy="36329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59964" y="199710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Удаление (</a:t>
            </a:r>
            <a:r>
              <a:rPr lang="en-US" sz="3600" b="1" i="1" dirty="0"/>
              <a:t>Deletion</a:t>
            </a:r>
            <a:r>
              <a:rPr lang="en-US" sz="3600" b="1" i="1" dirty="0" smtClean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66154" y="5820020"/>
            <a:ext cx="6033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Удаляемый элемент имеет двух потомков</a:t>
            </a:r>
            <a:endParaRPr lang="ru-RU" sz="2400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51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81340" y="30110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44898"/>
              </p:ext>
            </p:extLst>
          </p:nvPr>
        </p:nvGraphicFramePr>
        <p:xfrm>
          <a:off x="702468" y="1565415"/>
          <a:ext cx="10787063" cy="4835727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2071993">
                  <a:extLst>
                    <a:ext uri="{9D8B030D-6E8A-4147-A177-3AD203B41FA5}">
                      <a16:colId xmlns:a16="http://schemas.microsoft.com/office/drawing/2014/main" val="2447197426"/>
                    </a:ext>
                  </a:extLst>
                </a:gridCol>
                <a:gridCol w="4467195">
                  <a:extLst>
                    <a:ext uri="{9D8B030D-6E8A-4147-A177-3AD203B41FA5}">
                      <a16:colId xmlns:a16="http://schemas.microsoft.com/office/drawing/2014/main" val="657438685"/>
                    </a:ext>
                  </a:extLst>
                </a:gridCol>
                <a:gridCol w="4247875">
                  <a:extLst>
                    <a:ext uri="{9D8B030D-6E8A-4147-A177-3AD203B41FA5}">
                      <a16:colId xmlns:a16="http://schemas.microsoft.com/office/drawing/2014/main" val="861622679"/>
                    </a:ext>
                  </a:extLst>
                </a:gridCol>
              </a:tblGrid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 dirty="0">
                          <a:effectLst/>
                        </a:rPr>
                        <a:t>Операция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 dirty="0">
                          <a:effectLst/>
                        </a:rPr>
                        <a:t>Сложность (средний случай)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 dirty="0">
                          <a:effectLst/>
                        </a:rPr>
                        <a:t>Сложность (худший случай)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126373"/>
                  </a:ext>
                </a:extLst>
              </a:tr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>
                          <a:effectLst/>
                        </a:rPr>
                        <a:t>Вставка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 dirty="0">
                          <a:effectLst/>
                        </a:rPr>
                        <a:t>O</a:t>
                      </a:r>
                      <a:r>
                        <a:rPr lang="ru-RU" sz="3200" dirty="0">
                          <a:effectLst/>
                        </a:rPr>
                        <a:t>(</a:t>
                      </a:r>
                      <a:r>
                        <a:rPr lang="en-US" sz="3200" dirty="0">
                          <a:effectLst/>
                        </a:rPr>
                        <a:t>log n</a:t>
                      </a:r>
                      <a:r>
                        <a:rPr lang="ru-RU" sz="3200" dirty="0">
                          <a:effectLst/>
                        </a:rPr>
                        <a:t>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 dirty="0">
                          <a:effectLst/>
                        </a:rPr>
                        <a:t>O</a:t>
                      </a:r>
                      <a:r>
                        <a:rPr lang="ru-RU" sz="3200" dirty="0">
                          <a:effectLst/>
                        </a:rPr>
                        <a:t>(</a:t>
                      </a:r>
                      <a:r>
                        <a:rPr lang="en-US" sz="3200" dirty="0">
                          <a:effectLst/>
                        </a:rPr>
                        <a:t>n</a:t>
                      </a:r>
                      <a:r>
                        <a:rPr lang="ru-RU" sz="3200" dirty="0">
                          <a:effectLst/>
                        </a:rPr>
                        <a:t>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639756"/>
                  </a:ext>
                </a:extLst>
              </a:tr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>
                          <a:effectLst/>
                        </a:rPr>
                        <a:t>Удаление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O</a:t>
                      </a:r>
                      <a:r>
                        <a:rPr lang="ru-RU" sz="3200">
                          <a:effectLst/>
                        </a:rPr>
                        <a:t>(</a:t>
                      </a:r>
                      <a:r>
                        <a:rPr lang="en-US" sz="3200">
                          <a:effectLst/>
                        </a:rPr>
                        <a:t>log n</a:t>
                      </a:r>
                      <a:r>
                        <a:rPr lang="ru-RU" sz="3200">
                          <a:effectLst/>
                        </a:rPr>
                        <a:t>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O(n)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0232269"/>
                  </a:ext>
                </a:extLst>
              </a:tr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Поиск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O(log n)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 dirty="0">
                          <a:effectLst/>
                        </a:rPr>
                        <a:t>O</a:t>
                      </a:r>
                      <a:r>
                        <a:rPr lang="ru-RU" sz="3200" dirty="0">
                          <a:effectLst/>
                        </a:rPr>
                        <a:t>(</a:t>
                      </a:r>
                      <a:r>
                        <a:rPr lang="en-US" sz="3200" dirty="0">
                          <a:effectLst/>
                        </a:rPr>
                        <a:t>n</a:t>
                      </a:r>
                      <a:r>
                        <a:rPr lang="ru-RU" sz="3200" dirty="0">
                          <a:effectLst/>
                        </a:rPr>
                        <a:t>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6025281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88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87234" y="343970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Цепочное</a:t>
            </a:r>
            <a:r>
              <a:rPr lang="ru-RU" sz="4400" b="1" dirty="0">
                <a:solidFill>
                  <a:schemeClr val="accent2"/>
                </a:solidFill>
              </a:rPr>
              <a:t> </a:t>
            </a:r>
            <a:r>
              <a:rPr lang="ru-RU" sz="4400" b="1" dirty="0"/>
              <a:t>представление</a:t>
            </a:r>
            <a:endParaRPr lang="ru-RU" sz="4400" dirty="0"/>
          </a:p>
        </p:txBody>
      </p:sp>
      <p:sp>
        <p:nvSpPr>
          <p:cNvPr id="6" name="Rectangle 5"/>
          <p:cNvSpPr/>
          <p:nvPr/>
        </p:nvSpPr>
        <p:spPr>
          <a:xfrm>
            <a:off x="416727" y="1556312"/>
            <a:ext cx="11231628" cy="4679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В цепочном представлении каждый узел содержит значение и указатели на левое и правое поддерево. Это динамическая структура, где память выделяется по мере добавления узлов. Структура узла обычно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включает: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Ключ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(значение узла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Указатель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на левое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поддерево.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Указатель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на правое поддерево.</a:t>
            </a:r>
            <a:endParaRPr kumimoji="0" lang="en-US" altLang="ru-RU" sz="32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9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06644" y="415408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Сплошное представление</a:t>
            </a:r>
            <a:endParaRPr lang="ru-RU" sz="4400" dirty="0"/>
          </a:p>
        </p:txBody>
      </p:sp>
      <p:sp>
        <p:nvSpPr>
          <p:cNvPr id="6" name="Rectangle 5"/>
          <p:cNvSpPr/>
          <p:nvPr/>
        </p:nvSpPr>
        <p:spPr>
          <a:xfrm>
            <a:off x="416727" y="1556312"/>
            <a:ext cx="112704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сплошном представлении бинарное дерево хранится в массиве, где связи между узлами определяются индексами:</a:t>
            </a: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узла с индексом i : 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buFont typeface="Wingdings" panose="05000000000000000000" pitchFamily="2" charset="2"/>
              <a:buChar char="Ø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Левый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потомок: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2i+1.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buFont typeface="Wingdings" panose="05000000000000000000" pitchFamily="2" charset="2"/>
              <a:buChar char="Ø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Правый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потомок: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2i+2.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buFont typeface="Wingdings" panose="05000000000000000000" pitchFamily="2" charset="2"/>
              <a:buChar char="Ø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Родитель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: ⌊(i−1)/2⌋. Этот подход наиболее эффективен для полных или почти полных деревьев, таких как бинарные кучи.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73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145447" y="0"/>
            <a:ext cx="59011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/>
              <a:t>Сравнительный анализ</a:t>
            </a:r>
            <a:endParaRPr lang="ru-RU" sz="44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83974"/>
              </p:ext>
            </p:extLst>
          </p:nvPr>
        </p:nvGraphicFramePr>
        <p:xfrm>
          <a:off x="298412" y="1041076"/>
          <a:ext cx="11595175" cy="547878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2716250">
                  <a:extLst>
                    <a:ext uri="{9D8B030D-6E8A-4147-A177-3AD203B41FA5}">
                      <a16:colId xmlns:a16="http://schemas.microsoft.com/office/drawing/2014/main" val="179522746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3319065824"/>
                    </a:ext>
                  </a:extLst>
                </a:gridCol>
                <a:gridCol w="4449800">
                  <a:extLst>
                    <a:ext uri="{9D8B030D-6E8A-4147-A177-3AD203B41FA5}">
                      <a16:colId xmlns:a16="http://schemas.microsoft.com/office/drawing/2014/main" val="512834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Характеристика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Цепочное представление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Сплошное представление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179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Хранение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Указатели на левое/правое поддерево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Массив с индексами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978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Память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Больше (указатели)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Меньше (без указателей)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430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Гибкость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Высокая (динамическое выделение)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Низкая (фиксированный размер)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8626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Эффективность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Подходит для любых деревьев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Эффективно для полных деревьев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686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Сложность операций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O(log</a:t>
                      </a:r>
                      <a:r>
                        <a:rPr lang="en-US" sz="2800">
                          <a:effectLst/>
                        </a:rPr>
                        <a:t>n</a:t>
                      </a:r>
                      <a:r>
                        <a:rPr lang="ru-RU" sz="2800">
                          <a:effectLst/>
                        </a:rPr>
                        <a:t>) (сбалансированное)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O(logn) (</a:t>
                      </a:r>
                      <a:r>
                        <a:rPr lang="ru-RU" sz="2800">
                          <a:effectLst/>
                        </a:rPr>
                        <a:t>для куч</a:t>
                      </a:r>
                      <a:r>
                        <a:rPr lang="en-US" sz="2800">
                          <a:effectLst/>
                        </a:rPr>
                        <a:t>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41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Фрагментация памяти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Возможна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Отсутствует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2546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54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894517" y="214319"/>
            <a:ext cx="32697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Insertion BST</a:t>
            </a:r>
            <a:endParaRPr lang="ru-RU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15" y="1270573"/>
            <a:ext cx="6955726" cy="54302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15" y="1265257"/>
            <a:ext cx="6337373" cy="500695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57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836577" y="142880"/>
            <a:ext cx="27279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Search BST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30" y="949192"/>
            <a:ext cx="10344620" cy="559448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5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1"/>
          <a:stretch/>
        </p:blipFill>
        <p:spPr>
          <a:xfrm>
            <a:off x="263454" y="1233593"/>
            <a:ext cx="6123060" cy="53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86"/>
          <a:stretch/>
        </p:blipFill>
        <p:spPr>
          <a:xfrm>
            <a:off x="5802928" y="530380"/>
            <a:ext cx="6484325" cy="616093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8023" y="0"/>
            <a:ext cx="31649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Deletion BST</a:t>
            </a:r>
            <a:endParaRPr lang="ru-R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21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665433" y="57150"/>
            <a:ext cx="28561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Using Stack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39" y="999105"/>
            <a:ext cx="10444356" cy="566748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33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8866" y="115365"/>
            <a:ext cx="31742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Using Queue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74" y="1041969"/>
            <a:ext cx="11028652" cy="550735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84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8865" y="115365"/>
            <a:ext cx="30206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Результаты</a:t>
            </a:r>
            <a:endParaRPr lang="ru-R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23</a:t>
            </a:fld>
            <a:endParaRPr lang="ru-RU"/>
          </a:p>
        </p:txBody>
      </p:sp>
      <p:sp>
        <p:nvSpPr>
          <p:cNvPr id="4" name="Rectangle 3"/>
          <p:cNvSpPr/>
          <p:nvPr/>
        </p:nvSpPr>
        <p:spPr>
          <a:xfrm>
            <a:off x="678044" y="884806"/>
            <a:ext cx="1116629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Подсчёт чётных </a:t>
            </a: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чисел: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через стек и очередь.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Глубина дерева: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Рекурсия:Depth_tree_recursion(root).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Стек/очередь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: Depth_by_stack(root), Depth_by_Queue(root).</a:t>
            </a:r>
          </a:p>
        </p:txBody>
      </p:sp>
    </p:spTree>
    <p:extLst>
      <p:ext uri="{BB962C8B-B14F-4D97-AF65-F5344CB8AC3E}">
        <p14:creationId xmlns:p14="http://schemas.microsoft.com/office/powerpoint/2010/main" val="343156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8865" y="115365"/>
            <a:ext cx="30206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Результаты</a:t>
            </a:r>
            <a:endParaRPr lang="ru-R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24</a:t>
            </a:fld>
            <a:endParaRPr lang="ru-RU"/>
          </a:p>
        </p:txBody>
      </p:sp>
      <p:sp>
        <p:nvSpPr>
          <p:cNvPr id="4" name="Rectangle 3"/>
          <p:cNvSpPr/>
          <p:nvPr/>
        </p:nvSpPr>
        <p:spPr>
          <a:xfrm>
            <a:off x="678044" y="884806"/>
            <a:ext cx="111662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Итоги: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Успешно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реализованы операции </a:t>
            </a: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BST.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Цепочное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представление гибче, сплошное — экономичнее.</a:t>
            </a:r>
          </a:p>
        </p:txBody>
      </p:sp>
    </p:spTree>
    <p:extLst>
      <p:ext uri="{BB962C8B-B14F-4D97-AF65-F5344CB8AC3E}">
        <p14:creationId xmlns:p14="http://schemas.microsoft.com/office/powerpoint/2010/main" val="238674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829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Muzamil Mia</dc:creator>
  <cp:lastModifiedBy>Muzamil Mia</cp:lastModifiedBy>
  <cp:revision>39</cp:revision>
  <dcterms:created xsi:type="dcterms:W3CDTF">2025-05-14T22:33:04Z</dcterms:created>
  <dcterms:modified xsi:type="dcterms:W3CDTF">2025-07-04T10:42:15Z</dcterms:modified>
  <cp:contentStatus/>
</cp:coreProperties>
</file>